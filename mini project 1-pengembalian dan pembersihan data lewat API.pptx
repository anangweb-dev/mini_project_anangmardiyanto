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DM Sans" pitchFamily="2" charset="0"/>
      <p:regular r:id="rId7"/>
    </p:embeddedFont>
    <p:embeddedFont>
      <p:font typeface="DM Sans Bold" charset="0"/>
      <p:regular r:id="rId8"/>
    </p:embeddedFont>
    <p:embeddedFont>
      <p:font typeface="League Spartan" panose="020B0604020202020204" charset="0"/>
      <p:regular r:id="rId9"/>
    </p:embeddedFont>
    <p:embeddedFont>
      <p:font typeface="Poppins" panose="00000500000000000000" pitchFamily="2" charset="0"/>
      <p:regular r:id="rId10"/>
      <p:bold r:id="rId11"/>
    </p:embeddedFont>
    <p:embeddedFont>
      <p:font typeface="Poppins Bold" panose="00000800000000000000"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516" y="-3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newsapi.org/v2/everythi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59055" y="1314880"/>
            <a:ext cx="784746" cy="514008"/>
          </a:xfrm>
          <a:custGeom>
            <a:avLst/>
            <a:gdLst/>
            <a:ahLst/>
            <a:cxnLst/>
            <a:rect l="l" t="t" r="r" b="b"/>
            <a:pathLst>
              <a:path w="784746" h="514008">
                <a:moveTo>
                  <a:pt x="0" y="0"/>
                </a:moveTo>
                <a:lnTo>
                  <a:pt x="784745" y="0"/>
                </a:lnTo>
                <a:lnTo>
                  <a:pt x="784745" y="514009"/>
                </a:lnTo>
                <a:lnTo>
                  <a:pt x="0" y="5140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178105" y="7781577"/>
            <a:ext cx="3750716" cy="797218"/>
            <a:chOff x="0" y="0"/>
            <a:chExt cx="1141427" cy="242611"/>
          </a:xfrm>
        </p:grpSpPr>
        <p:sp>
          <p:nvSpPr>
            <p:cNvPr id="4" name="Freeform 4"/>
            <p:cNvSpPr/>
            <p:nvPr/>
          </p:nvSpPr>
          <p:spPr>
            <a:xfrm>
              <a:off x="0" y="0"/>
              <a:ext cx="1141427" cy="242611"/>
            </a:xfrm>
            <a:custGeom>
              <a:avLst/>
              <a:gdLst/>
              <a:ahLst/>
              <a:cxnLst/>
              <a:rect l="l" t="t" r="r" b="b"/>
              <a:pathLst>
                <a:path w="1141427" h="242611">
                  <a:moveTo>
                    <a:pt x="109398" y="0"/>
                  </a:moveTo>
                  <a:lnTo>
                    <a:pt x="1032029" y="0"/>
                  </a:lnTo>
                  <a:cubicBezTo>
                    <a:pt x="1092448" y="0"/>
                    <a:pt x="1141427" y="48979"/>
                    <a:pt x="1141427" y="109398"/>
                  </a:cubicBezTo>
                  <a:lnTo>
                    <a:pt x="1141427" y="133213"/>
                  </a:lnTo>
                  <a:cubicBezTo>
                    <a:pt x="1141427" y="162227"/>
                    <a:pt x="1129901" y="190053"/>
                    <a:pt x="1109385" y="210569"/>
                  </a:cubicBezTo>
                  <a:cubicBezTo>
                    <a:pt x="1088869" y="231086"/>
                    <a:pt x="1061043" y="242611"/>
                    <a:pt x="1032029" y="242611"/>
                  </a:cubicBezTo>
                  <a:lnTo>
                    <a:pt x="109398" y="242611"/>
                  </a:lnTo>
                  <a:cubicBezTo>
                    <a:pt x="48979" y="242611"/>
                    <a:pt x="0" y="193632"/>
                    <a:pt x="0" y="133213"/>
                  </a:cubicBezTo>
                  <a:lnTo>
                    <a:pt x="0" y="109398"/>
                  </a:lnTo>
                  <a:cubicBezTo>
                    <a:pt x="0" y="48979"/>
                    <a:pt x="48979" y="0"/>
                    <a:pt x="109398" y="0"/>
                  </a:cubicBezTo>
                  <a:close/>
                </a:path>
              </a:pathLst>
            </a:custGeom>
            <a:solidFill>
              <a:srgbClr val="FFFFFF"/>
            </a:solidFill>
            <a:ln w="38100" cap="rnd">
              <a:solidFill>
                <a:srgbClr val="035C96"/>
              </a:solidFill>
              <a:prstDash val="solid"/>
              <a:round/>
            </a:ln>
          </p:spPr>
        </p:sp>
        <p:sp>
          <p:nvSpPr>
            <p:cNvPr id="5" name="TextBox 5"/>
            <p:cNvSpPr txBox="1"/>
            <p:nvPr/>
          </p:nvSpPr>
          <p:spPr>
            <a:xfrm>
              <a:off x="0" y="-38100"/>
              <a:ext cx="1141427" cy="28071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59055" y="2933700"/>
            <a:ext cx="11821280" cy="809625"/>
          </a:xfrm>
          <a:prstGeom prst="rect">
            <a:avLst/>
          </a:prstGeom>
        </p:spPr>
        <p:txBody>
          <a:bodyPr lIns="0" tIns="0" rIns="0" bIns="0" rtlCol="0" anchor="t">
            <a:spAutoFit/>
          </a:bodyPr>
          <a:lstStyle/>
          <a:p>
            <a:pPr algn="l">
              <a:lnSpc>
                <a:spcPts val="6422"/>
              </a:lnSpc>
            </a:pPr>
            <a:r>
              <a:rPr lang="en-US" sz="5351" dirty="0">
                <a:solidFill>
                  <a:srgbClr val="28527A"/>
                </a:solidFill>
                <a:latin typeface="League Spartan"/>
                <a:ea typeface="League Spartan"/>
                <a:cs typeface="League Spartan"/>
                <a:sym typeface="League Spartan"/>
              </a:rPr>
              <a:t>MINI PROJECT 1 : </a:t>
            </a:r>
          </a:p>
        </p:txBody>
      </p:sp>
      <p:sp>
        <p:nvSpPr>
          <p:cNvPr id="7" name="TextBox 7"/>
          <p:cNvSpPr txBox="1"/>
          <p:nvPr/>
        </p:nvSpPr>
        <p:spPr>
          <a:xfrm>
            <a:off x="2633883" y="7939884"/>
            <a:ext cx="2940307" cy="415755"/>
          </a:xfrm>
          <a:prstGeom prst="rect">
            <a:avLst/>
          </a:prstGeom>
        </p:spPr>
        <p:txBody>
          <a:bodyPr lIns="0" tIns="0" rIns="0" bIns="0" rtlCol="0" anchor="t">
            <a:spAutoFit/>
          </a:bodyPr>
          <a:lstStyle/>
          <a:p>
            <a:pPr algn="l">
              <a:lnSpc>
                <a:spcPts val="3392"/>
              </a:lnSpc>
            </a:pPr>
            <a:r>
              <a:rPr lang="en-US" sz="2423" dirty="0">
                <a:solidFill>
                  <a:srgbClr val="000000"/>
                </a:solidFill>
                <a:latin typeface="DM Sans"/>
                <a:ea typeface="DM Sans"/>
                <a:cs typeface="DM Sans"/>
                <a:sym typeface="DM Sans"/>
              </a:rPr>
              <a:t>23 September 2026</a:t>
            </a:r>
          </a:p>
        </p:txBody>
      </p:sp>
      <p:sp>
        <p:nvSpPr>
          <p:cNvPr id="8" name="Freeform 8"/>
          <p:cNvSpPr/>
          <p:nvPr/>
        </p:nvSpPr>
        <p:spPr>
          <a:xfrm flipH="1">
            <a:off x="13866849" y="3174820"/>
            <a:ext cx="5760866" cy="7112180"/>
          </a:xfrm>
          <a:custGeom>
            <a:avLst/>
            <a:gdLst/>
            <a:ahLst/>
            <a:cxnLst/>
            <a:rect l="l" t="t" r="r" b="b"/>
            <a:pathLst>
              <a:path w="5760866" h="7112180">
                <a:moveTo>
                  <a:pt x="5760865" y="0"/>
                </a:moveTo>
                <a:lnTo>
                  <a:pt x="0" y="0"/>
                </a:lnTo>
                <a:lnTo>
                  <a:pt x="0" y="7112180"/>
                </a:lnTo>
                <a:lnTo>
                  <a:pt x="5760865" y="7112180"/>
                </a:lnTo>
                <a:lnTo>
                  <a:pt x="576086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5400000">
            <a:off x="13723717" y="-1141328"/>
            <a:ext cx="4740899" cy="7023555"/>
          </a:xfrm>
          <a:custGeom>
            <a:avLst/>
            <a:gdLst/>
            <a:ahLst/>
            <a:cxnLst/>
            <a:rect l="l" t="t" r="r" b="b"/>
            <a:pathLst>
              <a:path w="4740899" h="7023555">
                <a:moveTo>
                  <a:pt x="0" y="0"/>
                </a:moveTo>
                <a:lnTo>
                  <a:pt x="4740899" y="0"/>
                </a:lnTo>
                <a:lnTo>
                  <a:pt x="4740899" y="7023555"/>
                </a:lnTo>
                <a:lnTo>
                  <a:pt x="0" y="70235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flipV="1">
            <a:off x="-11125" y="7956536"/>
            <a:ext cx="4199035" cy="2330464"/>
          </a:xfrm>
          <a:custGeom>
            <a:avLst/>
            <a:gdLst/>
            <a:ahLst/>
            <a:cxnLst/>
            <a:rect l="l" t="t" r="r" b="b"/>
            <a:pathLst>
              <a:path w="4199035" h="2330464">
                <a:moveTo>
                  <a:pt x="0" y="2330464"/>
                </a:moveTo>
                <a:lnTo>
                  <a:pt x="4199034" y="2330464"/>
                </a:lnTo>
                <a:lnTo>
                  <a:pt x="4199034" y="0"/>
                </a:lnTo>
                <a:lnTo>
                  <a:pt x="0" y="0"/>
                </a:lnTo>
                <a:lnTo>
                  <a:pt x="0" y="2330464"/>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502402" y="502402"/>
            <a:ext cx="869182" cy="869182"/>
          </a:xfrm>
          <a:custGeom>
            <a:avLst/>
            <a:gdLst/>
            <a:ahLst/>
            <a:cxnLst/>
            <a:rect l="l" t="t" r="r" b="b"/>
            <a:pathLst>
              <a:path w="869182" h="869182">
                <a:moveTo>
                  <a:pt x="0" y="0"/>
                </a:moveTo>
                <a:lnTo>
                  <a:pt x="869182" y="0"/>
                </a:lnTo>
                <a:lnTo>
                  <a:pt x="869182" y="869182"/>
                </a:lnTo>
                <a:lnTo>
                  <a:pt x="0" y="86918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2159055" y="6837932"/>
            <a:ext cx="8966145" cy="487313"/>
          </a:xfrm>
          <a:prstGeom prst="rect">
            <a:avLst/>
          </a:prstGeom>
        </p:spPr>
        <p:txBody>
          <a:bodyPr wrap="square" lIns="0" tIns="0" rIns="0" bIns="0" rtlCol="0" anchor="t">
            <a:spAutoFit/>
          </a:bodyPr>
          <a:lstStyle/>
          <a:p>
            <a:pPr algn="l">
              <a:lnSpc>
                <a:spcPts val="3840"/>
              </a:lnSpc>
              <a:spcBef>
                <a:spcPct val="0"/>
              </a:spcBef>
            </a:pPr>
            <a:r>
              <a:rPr lang="en-US" sz="3200" b="1" dirty="0">
                <a:solidFill>
                  <a:srgbClr val="000000"/>
                </a:solidFill>
                <a:latin typeface="DM Sans Bold"/>
                <a:ea typeface="DM Sans Bold"/>
                <a:cs typeface="DM Sans Bold"/>
                <a:sym typeface="DM Sans Bold"/>
              </a:rPr>
              <a:t>Presented by Anang Mardiyanto</a:t>
            </a:r>
          </a:p>
        </p:txBody>
      </p:sp>
      <p:sp>
        <p:nvSpPr>
          <p:cNvPr id="13" name="TextBox 13"/>
          <p:cNvSpPr txBox="1"/>
          <p:nvPr/>
        </p:nvSpPr>
        <p:spPr>
          <a:xfrm>
            <a:off x="3098710" y="1304909"/>
            <a:ext cx="9525" cy="547370"/>
          </a:xfrm>
          <a:prstGeom prst="rect">
            <a:avLst/>
          </a:prstGeom>
        </p:spPr>
        <p:txBody>
          <a:bodyPr lIns="0" tIns="0" rIns="0" bIns="0" rtlCol="0" anchor="t">
            <a:spAutoFit/>
          </a:bodyPr>
          <a:lstStyle/>
          <a:p>
            <a:pPr algn="l">
              <a:lnSpc>
                <a:spcPts val="4480"/>
              </a:lnSpc>
            </a:pPr>
            <a:endParaRPr/>
          </a:p>
        </p:txBody>
      </p:sp>
      <p:sp>
        <p:nvSpPr>
          <p:cNvPr id="14" name="TextBox 14"/>
          <p:cNvSpPr txBox="1"/>
          <p:nvPr/>
        </p:nvSpPr>
        <p:spPr>
          <a:xfrm>
            <a:off x="2159055" y="4152766"/>
            <a:ext cx="11821280" cy="1845264"/>
          </a:xfrm>
          <a:prstGeom prst="rect">
            <a:avLst/>
          </a:prstGeom>
        </p:spPr>
        <p:txBody>
          <a:bodyPr lIns="0" tIns="0" rIns="0" bIns="0" rtlCol="0" anchor="t">
            <a:spAutoFit/>
          </a:bodyPr>
          <a:lstStyle/>
          <a:p>
            <a:pPr algn="l">
              <a:lnSpc>
                <a:spcPts val="7492"/>
              </a:lnSpc>
            </a:pPr>
            <a:r>
              <a:rPr lang="en-US" sz="5351" dirty="0">
                <a:solidFill>
                  <a:srgbClr val="28527A"/>
                </a:solidFill>
                <a:latin typeface="League Spartan"/>
                <a:ea typeface="League Spartan"/>
                <a:cs typeface="League Spartan"/>
                <a:sym typeface="League Spartan"/>
              </a:rPr>
              <a:t>PENGAMBILAN DAN PEMBERSIHAN DATA LEWAT API</a:t>
            </a:r>
          </a:p>
        </p:txBody>
      </p:sp>
      <p:sp>
        <p:nvSpPr>
          <p:cNvPr id="15" name="TextBox 15"/>
          <p:cNvSpPr txBox="1"/>
          <p:nvPr/>
        </p:nvSpPr>
        <p:spPr>
          <a:xfrm>
            <a:off x="2551428" y="1423145"/>
            <a:ext cx="10369639" cy="423193"/>
          </a:xfrm>
          <a:prstGeom prst="rect">
            <a:avLst/>
          </a:prstGeom>
        </p:spPr>
        <p:txBody>
          <a:bodyPr wrap="square" lIns="0" tIns="0" rIns="0" bIns="0" rtlCol="0" anchor="t">
            <a:spAutoFit/>
          </a:bodyPr>
          <a:lstStyle/>
          <a:p>
            <a:pPr algn="ctr">
              <a:lnSpc>
                <a:spcPts val="3302"/>
              </a:lnSpc>
              <a:spcBef>
                <a:spcPct val="0"/>
              </a:spcBef>
            </a:pPr>
            <a:r>
              <a:rPr lang="en-US" sz="2751" b="1" spc="283" dirty="0">
                <a:solidFill>
                  <a:srgbClr val="000000"/>
                </a:solidFill>
                <a:latin typeface="League Spartan"/>
                <a:ea typeface="League Spartan"/>
                <a:cs typeface="League Spartan"/>
                <a:sym typeface="League Spartan"/>
              </a:rPr>
              <a:t>PPKD DISNAKER DKI JAKARTA × HACKTIV8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76241" y="1879547"/>
            <a:ext cx="15735518" cy="424815"/>
          </a:xfrm>
          <a:prstGeom prst="rect">
            <a:avLst/>
          </a:prstGeom>
        </p:spPr>
        <p:txBody>
          <a:bodyPr lIns="0" tIns="0" rIns="0" bIns="0" rtlCol="0" anchor="t">
            <a:spAutoFit/>
          </a:bodyPr>
          <a:lstStyle/>
          <a:p>
            <a:pPr algn="just">
              <a:lnSpc>
                <a:spcPts val="3359"/>
              </a:lnSpc>
              <a:spcBef>
                <a:spcPct val="0"/>
              </a:spcBef>
            </a:pPr>
            <a:r>
              <a:rPr lang="en-US" sz="2400" dirty="0">
                <a:solidFill>
                  <a:srgbClr val="000000"/>
                </a:solidFill>
                <a:latin typeface="Poppins"/>
                <a:ea typeface="Poppins"/>
                <a:cs typeface="Poppins"/>
                <a:sym typeface="Poppins"/>
              </a:rPr>
              <a:t>API yang </a:t>
            </a:r>
            <a:r>
              <a:rPr lang="en-US" sz="2400" dirty="0" err="1">
                <a:solidFill>
                  <a:srgbClr val="000000"/>
                </a:solidFill>
                <a:latin typeface="Poppins"/>
                <a:ea typeface="Poppins"/>
                <a:cs typeface="Poppins"/>
                <a:sym typeface="Poppins"/>
              </a:rPr>
              <a:t>digunakan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dalam</a:t>
            </a:r>
            <a:r>
              <a:rPr lang="en-US" sz="2400" dirty="0">
                <a:solidFill>
                  <a:srgbClr val="000000"/>
                </a:solidFill>
                <a:latin typeface="Poppins"/>
                <a:ea typeface="Poppins"/>
                <a:cs typeface="Poppins"/>
                <a:sym typeface="Poppins"/>
              </a:rPr>
              <a:t> project kali </a:t>
            </a:r>
            <a:r>
              <a:rPr lang="en-US" sz="2400" dirty="0" err="1">
                <a:solidFill>
                  <a:srgbClr val="000000"/>
                </a:solidFill>
                <a:latin typeface="Poppins"/>
                <a:ea typeface="Poppins"/>
                <a:cs typeface="Poppins"/>
                <a:sym typeface="Poppins"/>
              </a:rPr>
              <a:t>ini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adalah</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NewsAPI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khususnya</a:t>
            </a:r>
            <a:r>
              <a:rPr lang="en-US" sz="2400" dirty="0">
                <a:solidFill>
                  <a:srgbClr val="000000"/>
                </a:solidFill>
                <a:latin typeface="Poppins"/>
                <a:ea typeface="Poppins"/>
                <a:cs typeface="Poppins"/>
                <a:sym typeface="Poppins"/>
              </a:rPr>
              <a:t> endpoint /v2/everything).</a:t>
            </a:r>
          </a:p>
        </p:txBody>
      </p:sp>
      <p:sp>
        <p:nvSpPr>
          <p:cNvPr id="3" name="Freeform 3"/>
          <p:cNvSpPr/>
          <p:nvPr/>
        </p:nvSpPr>
        <p:spPr>
          <a:xfrm rot="-5400000" flipH="1">
            <a:off x="14123808" y="6122808"/>
            <a:ext cx="3356214" cy="4972169"/>
          </a:xfrm>
          <a:custGeom>
            <a:avLst/>
            <a:gdLst/>
            <a:ahLst/>
            <a:cxnLst/>
            <a:rect l="l" t="t" r="r" b="b"/>
            <a:pathLst>
              <a:path w="3356214" h="4972169">
                <a:moveTo>
                  <a:pt x="3356215" y="0"/>
                </a:moveTo>
                <a:lnTo>
                  <a:pt x="0" y="0"/>
                </a:lnTo>
                <a:lnTo>
                  <a:pt x="0" y="4972169"/>
                </a:lnTo>
                <a:lnTo>
                  <a:pt x="3356215" y="4972169"/>
                </a:lnTo>
                <a:lnTo>
                  <a:pt x="335621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3271685" y="863784"/>
            <a:ext cx="9525" cy="1566544"/>
          </a:xfrm>
          <a:prstGeom prst="rect">
            <a:avLst/>
          </a:prstGeom>
        </p:spPr>
        <p:txBody>
          <a:bodyPr lIns="0" tIns="0" rIns="0" bIns="0" rtlCol="0" anchor="t">
            <a:spAutoFit/>
          </a:bodyPr>
          <a:lstStyle/>
          <a:p>
            <a:pPr algn="ctr">
              <a:lnSpc>
                <a:spcPts val="12880"/>
              </a:lnSpc>
            </a:pPr>
            <a:endParaRPr/>
          </a:p>
        </p:txBody>
      </p:sp>
      <p:sp>
        <p:nvSpPr>
          <p:cNvPr id="6" name="TextBox 6"/>
          <p:cNvSpPr txBox="1"/>
          <p:nvPr/>
        </p:nvSpPr>
        <p:spPr>
          <a:xfrm>
            <a:off x="12489879" y="1394127"/>
            <a:ext cx="9525" cy="1566544"/>
          </a:xfrm>
          <a:prstGeom prst="rect">
            <a:avLst/>
          </a:prstGeom>
        </p:spPr>
        <p:txBody>
          <a:bodyPr lIns="0" tIns="0" rIns="0" bIns="0" rtlCol="0" anchor="t">
            <a:spAutoFit/>
          </a:bodyPr>
          <a:lstStyle/>
          <a:p>
            <a:pPr algn="ctr">
              <a:lnSpc>
                <a:spcPts val="12880"/>
              </a:lnSpc>
            </a:pPr>
            <a:endParaRPr/>
          </a:p>
        </p:txBody>
      </p:sp>
      <p:sp>
        <p:nvSpPr>
          <p:cNvPr id="7" name="TextBox 7"/>
          <p:cNvSpPr txBox="1"/>
          <p:nvPr/>
        </p:nvSpPr>
        <p:spPr>
          <a:xfrm>
            <a:off x="211640" y="697986"/>
            <a:ext cx="13038274" cy="474489"/>
          </a:xfrm>
          <a:prstGeom prst="rect">
            <a:avLst/>
          </a:prstGeom>
        </p:spPr>
        <p:txBody>
          <a:bodyPr lIns="0" tIns="0" rIns="0" bIns="0" rtlCol="0" anchor="t">
            <a:spAutoFit/>
          </a:bodyPr>
          <a:lstStyle/>
          <a:p>
            <a:pPr algn="ctr">
              <a:lnSpc>
                <a:spcPts val="3720"/>
              </a:lnSpc>
              <a:spcBef>
                <a:spcPct val="0"/>
              </a:spcBef>
            </a:pPr>
            <a:r>
              <a:rPr lang="en-US" sz="3100" b="1" dirty="0">
                <a:solidFill>
                  <a:srgbClr val="000000"/>
                </a:solidFill>
                <a:latin typeface="Poppins"/>
                <a:ea typeface="Poppins"/>
                <a:cs typeface="Poppins"/>
                <a:sym typeface="Poppins"/>
              </a:rPr>
              <a:t>API APA YANG DIPAKAI, DAN ALASAN MEMILIHNYA</a:t>
            </a:r>
          </a:p>
        </p:txBody>
      </p:sp>
      <p:sp>
        <p:nvSpPr>
          <p:cNvPr id="8" name="TextBox 8"/>
          <p:cNvSpPr txBox="1"/>
          <p:nvPr/>
        </p:nvSpPr>
        <p:spPr>
          <a:xfrm>
            <a:off x="1024222" y="352116"/>
            <a:ext cx="310455" cy="1177913"/>
          </a:xfrm>
          <a:prstGeom prst="rect">
            <a:avLst/>
          </a:prstGeom>
        </p:spPr>
        <p:txBody>
          <a:bodyPr lIns="0" tIns="0" rIns="0" bIns="0" rtlCol="0" anchor="t">
            <a:spAutoFit/>
          </a:bodyPr>
          <a:lstStyle/>
          <a:p>
            <a:pPr algn="ctr">
              <a:lnSpc>
                <a:spcPts val="9100"/>
              </a:lnSpc>
            </a:pPr>
            <a:r>
              <a:rPr lang="en-US" sz="6500" b="1">
                <a:solidFill>
                  <a:srgbClr val="000000"/>
                </a:solidFill>
                <a:latin typeface="Poppins Bold"/>
                <a:ea typeface="Poppins Bold"/>
                <a:cs typeface="Poppins Bold"/>
                <a:sym typeface="Poppins Bold"/>
              </a:rPr>
              <a:t>1</a:t>
            </a:r>
          </a:p>
        </p:txBody>
      </p:sp>
      <p:sp>
        <p:nvSpPr>
          <p:cNvPr id="9" name="TextBox 9"/>
          <p:cNvSpPr txBox="1"/>
          <p:nvPr/>
        </p:nvSpPr>
        <p:spPr>
          <a:xfrm>
            <a:off x="1002451" y="2545792"/>
            <a:ext cx="17003928" cy="7466403"/>
          </a:xfrm>
          <a:prstGeom prst="rect">
            <a:avLst/>
          </a:prstGeom>
        </p:spPr>
        <p:txBody>
          <a:bodyPr wrap="square" lIns="0" tIns="0" rIns="0" bIns="0" rtlCol="0" anchor="t">
            <a:spAutoFit/>
          </a:bodyPr>
          <a:lstStyle/>
          <a:p>
            <a:pPr algn="just">
              <a:lnSpc>
                <a:spcPts val="3359"/>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Alasan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Memilih</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NewsAPI</a:t>
            </a:r>
            <a:r>
              <a:rPr lang="en-US" sz="2400" dirty="0">
                <a:solidFill>
                  <a:srgbClr val="000000"/>
                </a:solidFill>
                <a:latin typeface="Poppins"/>
                <a:ea typeface="Poppins"/>
                <a:cs typeface="Poppins"/>
                <a:sym typeface="Poppins"/>
              </a:rPr>
              <a:t>:</a:t>
            </a:r>
          </a:p>
          <a:p>
            <a:pPr algn="just">
              <a:lnSpc>
                <a:spcPts val="3359"/>
              </a:lnSpc>
            </a:pPr>
            <a:endParaRPr lang="en-US" sz="2400" dirty="0">
              <a:solidFill>
                <a:srgbClr val="000000"/>
              </a:solidFill>
              <a:latin typeface="Poppins"/>
              <a:ea typeface="Poppins"/>
              <a:cs typeface="Poppins"/>
              <a:sym typeface="Poppins"/>
            </a:endParaRPr>
          </a:p>
          <a:p>
            <a:pPr marL="518160" lvl="1" indent="-259080" algn="l">
              <a:lnSpc>
                <a:spcPts val="3672"/>
              </a:lnSpc>
              <a:buAutoNum type="arabicPeriod"/>
            </a:pPr>
            <a:r>
              <a:rPr lang="en-US" sz="2400" dirty="0">
                <a:solidFill>
                  <a:srgbClr val="000000"/>
                </a:solidFill>
                <a:latin typeface="Poppins"/>
                <a:ea typeface="Poppins"/>
                <a:cs typeface="Poppins"/>
                <a:sym typeface="Poppins"/>
              </a:rPr>
              <a:t> Gratis dan </a:t>
            </a:r>
            <a:r>
              <a:rPr lang="en-US" sz="2400" dirty="0" err="1">
                <a:solidFill>
                  <a:srgbClr val="000000"/>
                </a:solidFill>
                <a:latin typeface="Poppins"/>
                <a:ea typeface="Poppins"/>
                <a:cs typeface="Poppins"/>
                <a:sym typeface="Poppins"/>
              </a:rPr>
              <a:t>Mudah</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Digunakan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untuk</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Tahap</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belajar</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NewsAPI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menyediakan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secara</a:t>
            </a:r>
            <a:r>
              <a:rPr lang="en-US" sz="2400" dirty="0">
                <a:solidFill>
                  <a:srgbClr val="000000"/>
                </a:solidFill>
                <a:latin typeface="Poppins"/>
                <a:ea typeface="Poppins"/>
                <a:cs typeface="Poppins"/>
                <a:sym typeface="Poppins"/>
              </a:rPr>
              <a:t> gratis </a:t>
            </a:r>
            <a:r>
              <a:rPr lang="en-US" sz="2400" dirty="0" err="1">
                <a:solidFill>
                  <a:srgbClr val="000000"/>
                </a:solidFill>
                <a:latin typeface="Poppins"/>
                <a:ea typeface="Poppins"/>
                <a:cs typeface="Poppins"/>
                <a:sym typeface="Poppins"/>
              </a:rPr>
              <a:t>dengan</a:t>
            </a:r>
            <a:endParaRPr lang="en-US" sz="2400" dirty="0">
              <a:solidFill>
                <a:srgbClr val="000000"/>
              </a:solidFill>
              <a:latin typeface="Poppins"/>
              <a:ea typeface="Poppins"/>
              <a:cs typeface="Poppins"/>
              <a:sym typeface="Poppins"/>
            </a:endParaRPr>
          </a:p>
          <a:p>
            <a:pPr algn="l">
              <a:lnSpc>
                <a:spcPts val="3672"/>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kuota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harian</a:t>
            </a:r>
            <a:r>
              <a:rPr lang="en-US" sz="2400" dirty="0">
                <a:solidFill>
                  <a:srgbClr val="000000"/>
                </a:solidFill>
                <a:latin typeface="Poppins"/>
                <a:ea typeface="Poppins"/>
                <a:cs typeface="Poppins"/>
                <a:sym typeface="Poppins"/>
              </a:rPr>
              <a:t> yang </a:t>
            </a:r>
            <a:r>
              <a:rPr lang="en-US" sz="2400" dirty="0" err="1">
                <a:solidFill>
                  <a:srgbClr val="000000"/>
                </a:solidFill>
                <a:latin typeface="Poppins"/>
                <a:ea typeface="Poppins"/>
                <a:cs typeface="Poppins"/>
                <a:sym typeface="Poppins"/>
              </a:rPr>
              <a:t>cukup</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cocok</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untuk</a:t>
            </a:r>
            <a:r>
              <a:rPr lang="en-US" sz="2400" dirty="0">
                <a:solidFill>
                  <a:srgbClr val="000000"/>
                </a:solidFill>
                <a:latin typeface="Poppins"/>
                <a:ea typeface="Poppins"/>
                <a:cs typeface="Poppins"/>
                <a:sym typeface="Poppins"/>
              </a:rPr>
              <a:t> mini project, </a:t>
            </a:r>
            <a:r>
              <a:rPr lang="en-US" sz="2400" dirty="0" err="1">
                <a:solidFill>
                  <a:srgbClr val="000000"/>
                </a:solidFill>
                <a:latin typeface="Poppins"/>
                <a:ea typeface="Poppins"/>
                <a:cs typeface="Poppins"/>
                <a:sym typeface="Poppins"/>
              </a:rPr>
              <a:t>latihan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koding</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atau</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analisis</a:t>
            </a:r>
            <a:r>
              <a:rPr lang="en-US" sz="2400" dirty="0">
                <a:solidFill>
                  <a:srgbClr val="000000"/>
                </a:solidFill>
                <a:latin typeface="Poppins"/>
                <a:ea typeface="Poppins"/>
                <a:cs typeface="Poppins"/>
                <a:sym typeface="Poppins"/>
              </a:rPr>
              <a:t> data </a:t>
            </a:r>
            <a:r>
              <a:rPr lang="en-US" sz="2400" dirty="0" err="1">
                <a:solidFill>
                  <a:srgbClr val="000000"/>
                </a:solidFill>
                <a:latin typeface="Poppins"/>
                <a:ea typeface="Poppins"/>
                <a:cs typeface="Poppins"/>
                <a:sym typeface="Poppins"/>
              </a:rPr>
              <a:t>dasar</a:t>
            </a:r>
            <a:r>
              <a:rPr lang="en-US" sz="2400" dirty="0">
                <a:solidFill>
                  <a:srgbClr val="000000"/>
                </a:solidFill>
                <a:latin typeface="Poppins"/>
                <a:ea typeface="Poppins"/>
                <a:cs typeface="Poppins"/>
                <a:sym typeface="Poppins"/>
              </a:rPr>
              <a:t>.</a:t>
            </a:r>
          </a:p>
          <a:p>
            <a:pPr algn="just">
              <a:lnSpc>
                <a:spcPts val="3359"/>
              </a:lnSpc>
            </a:pPr>
            <a:endParaRPr lang="en-US" sz="2400" dirty="0">
              <a:solidFill>
                <a:srgbClr val="000000"/>
              </a:solidFill>
              <a:latin typeface="Poppins"/>
              <a:ea typeface="Poppins"/>
              <a:cs typeface="Poppins"/>
              <a:sym typeface="Poppins"/>
            </a:endParaRPr>
          </a:p>
          <a:p>
            <a:pPr marL="259080" lvl="1" algn="l">
              <a:lnSpc>
                <a:spcPts val="3359"/>
              </a:lnSpc>
            </a:pPr>
            <a:r>
              <a:rPr lang="en-US" sz="2400" dirty="0">
                <a:solidFill>
                  <a:srgbClr val="000000"/>
                </a:solidFill>
                <a:latin typeface="Poppins"/>
                <a:ea typeface="Poppins"/>
                <a:cs typeface="Poppins"/>
                <a:sym typeface="Poppins"/>
              </a:rPr>
              <a:t>2.  </a:t>
            </a:r>
            <a:r>
              <a:rPr lang="en-US" sz="2400" dirty="0" err="1">
                <a:solidFill>
                  <a:srgbClr val="000000"/>
                </a:solidFill>
                <a:latin typeface="Poppins"/>
                <a:ea typeface="Poppins"/>
                <a:cs typeface="Poppins"/>
                <a:sym typeface="Poppins"/>
              </a:rPr>
              <a:t>Fleksibilitas</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Pencarian</a:t>
            </a:r>
            <a:r>
              <a:rPr lang="en-US" sz="2400" dirty="0">
                <a:solidFill>
                  <a:srgbClr val="000000"/>
                </a:solidFill>
                <a:latin typeface="Poppins"/>
                <a:ea typeface="Poppins"/>
                <a:cs typeface="Poppins"/>
                <a:sym typeface="Poppins"/>
              </a:rPr>
              <a:t> Parameter (Endpoint /v2/everything) </a:t>
            </a:r>
            <a:r>
              <a:rPr lang="en-US" sz="2400" dirty="0" err="1">
                <a:solidFill>
                  <a:srgbClr val="000000"/>
                </a:solidFill>
                <a:latin typeface="Poppins"/>
                <a:ea typeface="Poppins"/>
                <a:cs typeface="Poppins"/>
                <a:sym typeface="Poppins"/>
              </a:rPr>
              <a:t>Memungkinkan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pencarian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berita</a:t>
            </a:r>
            <a:endParaRPr lang="en-US" sz="2400" dirty="0">
              <a:solidFill>
                <a:srgbClr val="000000"/>
              </a:solidFill>
              <a:latin typeface="Poppins"/>
              <a:ea typeface="Poppins"/>
              <a:cs typeface="Poppins"/>
              <a:sym typeface="Poppins"/>
            </a:endParaRPr>
          </a:p>
          <a:p>
            <a:pPr algn="l">
              <a:lnSpc>
                <a:spcPts val="3359"/>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berbasis</a:t>
            </a:r>
            <a:r>
              <a:rPr lang="en-US" sz="2400" dirty="0">
                <a:solidFill>
                  <a:srgbClr val="000000"/>
                </a:solidFill>
                <a:latin typeface="Poppins"/>
                <a:ea typeface="Poppins"/>
                <a:cs typeface="Poppins"/>
                <a:sym typeface="Poppins"/>
              </a:rPr>
              <a:t> kata </a:t>
            </a:r>
            <a:r>
              <a:rPr lang="en-US" sz="2400" dirty="0" err="1">
                <a:solidFill>
                  <a:srgbClr val="000000"/>
                </a:solidFill>
                <a:latin typeface="Poppins"/>
                <a:ea typeface="Poppins"/>
                <a:cs typeface="Poppins"/>
                <a:sym typeface="Poppins"/>
              </a:rPr>
              <a:t>kunci</a:t>
            </a:r>
            <a:r>
              <a:rPr lang="en-US" sz="2400" dirty="0">
                <a:solidFill>
                  <a:srgbClr val="000000"/>
                </a:solidFill>
                <a:latin typeface="Poppins"/>
                <a:ea typeface="Poppins"/>
                <a:cs typeface="Poppins"/>
                <a:sym typeface="Poppins"/>
              </a:rPr>
              <a:t> (keyword), </a:t>
            </a:r>
            <a:r>
              <a:rPr lang="en-US" sz="2400" dirty="0" err="1">
                <a:solidFill>
                  <a:srgbClr val="000000"/>
                </a:solidFill>
                <a:latin typeface="Poppins"/>
                <a:ea typeface="Poppins"/>
                <a:cs typeface="Poppins"/>
                <a:sym typeface="Poppins"/>
              </a:rPr>
              <a:t>bahasa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misal</a:t>
            </a:r>
            <a:r>
              <a:rPr lang="en-US" sz="2400" dirty="0">
                <a:solidFill>
                  <a:srgbClr val="000000"/>
                </a:solidFill>
                <a:latin typeface="Poppins"/>
                <a:ea typeface="Poppins"/>
                <a:cs typeface="Poppins"/>
                <a:sym typeface="Poppins"/>
              </a:rPr>
              <a:t>: "language": "id"), </a:t>
            </a:r>
            <a:r>
              <a:rPr lang="en-US" sz="2400" dirty="0" err="1">
                <a:solidFill>
                  <a:srgbClr val="000000"/>
                </a:solidFill>
                <a:latin typeface="Poppins"/>
                <a:ea typeface="Poppins"/>
                <a:cs typeface="Poppins"/>
                <a:sym typeface="Poppins"/>
              </a:rPr>
              <a:t>rentang</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tanggal</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hingga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pengurutan</a:t>
            </a:r>
            <a:endParaRPr lang="en-US" sz="2400" dirty="0">
              <a:solidFill>
                <a:srgbClr val="000000"/>
              </a:solidFill>
              <a:latin typeface="Poppins"/>
              <a:ea typeface="Poppins"/>
              <a:cs typeface="Poppins"/>
              <a:sym typeface="Poppins"/>
            </a:endParaRPr>
          </a:p>
          <a:p>
            <a:pPr algn="l">
              <a:lnSpc>
                <a:spcPts val="3359"/>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berita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terbaru</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secara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fleksibel</a:t>
            </a:r>
            <a:r>
              <a:rPr lang="en-US" sz="2400" dirty="0">
                <a:solidFill>
                  <a:srgbClr val="000000"/>
                </a:solidFill>
                <a:latin typeface="Poppins"/>
                <a:ea typeface="Poppins"/>
                <a:cs typeface="Poppins"/>
                <a:sym typeface="Poppins"/>
              </a:rPr>
              <a:t>.</a:t>
            </a:r>
          </a:p>
          <a:p>
            <a:pPr algn="just">
              <a:lnSpc>
                <a:spcPts val="3359"/>
              </a:lnSpc>
            </a:pPr>
            <a:endParaRPr lang="en-US" sz="2400" dirty="0">
              <a:solidFill>
                <a:srgbClr val="000000"/>
              </a:solidFill>
              <a:latin typeface="Poppins"/>
              <a:ea typeface="Poppins"/>
              <a:cs typeface="Poppins"/>
              <a:sym typeface="Poppins"/>
            </a:endParaRPr>
          </a:p>
          <a:p>
            <a:pPr marL="259080" lvl="1" algn="l">
              <a:lnSpc>
                <a:spcPts val="3359"/>
              </a:lnSpc>
            </a:pPr>
            <a:r>
              <a:rPr lang="en-US" sz="2400" dirty="0">
                <a:solidFill>
                  <a:srgbClr val="000000"/>
                </a:solidFill>
                <a:latin typeface="Poppins"/>
                <a:ea typeface="Poppins"/>
                <a:cs typeface="Poppins"/>
                <a:sym typeface="Poppins"/>
              </a:rPr>
              <a:t>3.  </a:t>
            </a:r>
            <a:r>
              <a:rPr lang="en-US" sz="2400" dirty="0" err="1">
                <a:solidFill>
                  <a:srgbClr val="000000"/>
                </a:solidFill>
                <a:latin typeface="Poppins"/>
                <a:ea typeface="Poppins"/>
                <a:cs typeface="Poppins"/>
                <a:sym typeface="Poppins"/>
              </a:rPr>
              <a:t>Struktur</a:t>
            </a:r>
            <a:r>
              <a:rPr lang="en-US" sz="2400" dirty="0">
                <a:solidFill>
                  <a:srgbClr val="000000"/>
                </a:solidFill>
                <a:latin typeface="Poppins"/>
                <a:ea typeface="Poppins"/>
                <a:cs typeface="Poppins"/>
                <a:sym typeface="Poppins"/>
              </a:rPr>
              <a:t> Data </a:t>
            </a:r>
            <a:r>
              <a:rPr lang="en-US" sz="2400" dirty="0" err="1">
                <a:solidFill>
                  <a:srgbClr val="000000"/>
                </a:solidFill>
                <a:latin typeface="Poppins"/>
                <a:ea typeface="Poppins"/>
                <a:cs typeface="Poppins"/>
                <a:sym typeface="Poppins"/>
              </a:rPr>
              <a:t>Terformat</a:t>
            </a:r>
            <a:r>
              <a:rPr lang="en-US" sz="2400" dirty="0">
                <a:solidFill>
                  <a:srgbClr val="000000"/>
                </a:solidFill>
                <a:latin typeface="Poppins"/>
                <a:ea typeface="Poppins"/>
                <a:cs typeface="Poppins"/>
                <a:sym typeface="Poppins"/>
              </a:rPr>
              <a:t> Rapi (JSON) Data yang </a:t>
            </a:r>
            <a:r>
              <a:rPr lang="en-US" sz="2400" dirty="0" err="1">
                <a:solidFill>
                  <a:srgbClr val="000000"/>
                </a:solidFill>
                <a:latin typeface="Poppins"/>
                <a:ea typeface="Poppins"/>
                <a:cs typeface="Poppins"/>
                <a:sym typeface="Poppins"/>
              </a:rPr>
              <a:t>dikembalikan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berformat</a:t>
            </a:r>
            <a:r>
              <a:rPr lang="en-US" sz="2400" dirty="0">
                <a:solidFill>
                  <a:srgbClr val="000000"/>
                </a:solidFill>
                <a:latin typeface="Poppins"/>
                <a:ea typeface="Poppins"/>
                <a:cs typeface="Poppins"/>
                <a:sym typeface="Poppins"/>
              </a:rPr>
              <a:t> JSON </a:t>
            </a:r>
            <a:r>
              <a:rPr lang="en-US" sz="2400" dirty="0" err="1">
                <a:solidFill>
                  <a:srgbClr val="000000"/>
                </a:solidFill>
                <a:latin typeface="Poppins"/>
                <a:ea typeface="Poppins"/>
                <a:cs typeface="Poppins"/>
                <a:sym typeface="Poppins"/>
              </a:rPr>
              <a:t>terstruktur</a:t>
            </a:r>
            <a:r>
              <a:rPr lang="en-US" sz="2400" dirty="0">
                <a:solidFill>
                  <a:srgbClr val="000000"/>
                </a:solidFill>
                <a:latin typeface="Poppins"/>
                <a:ea typeface="Poppins"/>
                <a:cs typeface="Poppins"/>
                <a:sym typeface="Poppins"/>
              </a:rPr>
              <a:t> yang</a:t>
            </a:r>
          </a:p>
          <a:p>
            <a:pPr algn="l">
              <a:lnSpc>
                <a:spcPts val="3359"/>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mudah</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diproses</a:t>
            </a:r>
            <a:r>
              <a:rPr lang="en-US" sz="2400" dirty="0">
                <a:solidFill>
                  <a:srgbClr val="000000"/>
                </a:solidFill>
                <a:latin typeface="Poppins"/>
                <a:ea typeface="Poppins"/>
                <a:cs typeface="Poppins"/>
                <a:sym typeface="Poppins"/>
              </a:rPr>
              <a:t> dan </a:t>
            </a:r>
            <a:r>
              <a:rPr lang="en-US" sz="2400" dirty="0" err="1">
                <a:solidFill>
                  <a:srgbClr val="000000"/>
                </a:solidFill>
                <a:latin typeface="Poppins"/>
                <a:ea typeface="Poppins"/>
                <a:cs typeface="Poppins"/>
                <a:sym typeface="Poppins"/>
              </a:rPr>
              <a:t>dikonversi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langsung</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menjadi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bentuk</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tabel</a:t>
            </a:r>
            <a:r>
              <a:rPr lang="en-US" sz="2400" dirty="0">
                <a:solidFill>
                  <a:srgbClr val="000000"/>
                </a:solidFill>
                <a:latin typeface="Poppins"/>
                <a:ea typeface="Poppins"/>
                <a:cs typeface="Poppins"/>
                <a:sym typeface="Poppins"/>
              </a:rPr>
              <a:t> (Pandas </a:t>
            </a:r>
            <a:r>
              <a:rPr lang="en-US" sz="2400" dirty="0" err="1">
                <a:solidFill>
                  <a:srgbClr val="000000"/>
                </a:solidFill>
                <a:latin typeface="Poppins"/>
                <a:ea typeface="Poppins"/>
                <a:cs typeface="Poppins"/>
                <a:sym typeface="Poppins"/>
              </a:rPr>
              <a:t>DataFrame</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serta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diekspor</a:t>
            </a:r>
            <a:endParaRPr lang="en-US" sz="2400" dirty="0">
              <a:solidFill>
                <a:srgbClr val="000000"/>
              </a:solidFill>
              <a:latin typeface="Poppins"/>
              <a:ea typeface="Poppins"/>
              <a:cs typeface="Poppins"/>
              <a:sym typeface="Poppins"/>
            </a:endParaRPr>
          </a:p>
          <a:p>
            <a:pPr algn="l">
              <a:lnSpc>
                <a:spcPts val="3359"/>
              </a:lnSpc>
            </a:pP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ke</a:t>
            </a:r>
            <a:r>
              <a:rPr lang="en-US" sz="2400" dirty="0">
                <a:solidFill>
                  <a:srgbClr val="000000"/>
                </a:solidFill>
                <a:latin typeface="Poppins"/>
                <a:ea typeface="Poppins"/>
                <a:cs typeface="Poppins"/>
                <a:sym typeface="Poppins"/>
              </a:rPr>
              <a:t> file CSV.</a:t>
            </a:r>
          </a:p>
          <a:p>
            <a:pPr algn="just">
              <a:lnSpc>
                <a:spcPts val="3359"/>
              </a:lnSpc>
            </a:pPr>
            <a:endParaRPr lang="en-US" sz="2400" dirty="0">
              <a:solidFill>
                <a:srgbClr val="000000"/>
              </a:solidFill>
              <a:latin typeface="Poppins"/>
              <a:ea typeface="Poppins"/>
              <a:cs typeface="Poppins"/>
              <a:sym typeface="Poppins"/>
            </a:endParaRPr>
          </a:p>
          <a:p>
            <a:pPr marL="259080" lvl="1" algn="l">
              <a:lnSpc>
                <a:spcPts val="3359"/>
              </a:lnSpc>
            </a:pPr>
            <a:r>
              <a:rPr lang="en-US" sz="2400" dirty="0">
                <a:solidFill>
                  <a:srgbClr val="000000"/>
                </a:solidFill>
                <a:latin typeface="Poppins"/>
                <a:ea typeface="Poppins"/>
                <a:cs typeface="Poppins"/>
                <a:sym typeface="Poppins"/>
              </a:rPr>
              <a:t>4. Proses </a:t>
            </a:r>
            <a:r>
              <a:rPr lang="en-US" sz="2400" dirty="0" err="1">
                <a:solidFill>
                  <a:srgbClr val="000000"/>
                </a:solidFill>
                <a:latin typeface="Poppins"/>
                <a:ea typeface="Poppins"/>
                <a:cs typeface="Poppins"/>
                <a:sym typeface="Poppins"/>
              </a:rPr>
              <a:t>Autentikasi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Sederhana</a:t>
            </a:r>
            <a:r>
              <a:rPr lang="en-US" sz="2400" dirty="0">
                <a:solidFill>
                  <a:srgbClr val="000000"/>
                </a:solidFill>
                <a:latin typeface="Poppins"/>
                <a:ea typeface="Poppins"/>
                <a:cs typeface="Poppins"/>
                <a:sym typeface="Poppins"/>
              </a:rPr>
              <a:t> Hanya </a:t>
            </a:r>
            <a:r>
              <a:rPr lang="en-US" sz="2400" dirty="0" err="1">
                <a:solidFill>
                  <a:srgbClr val="000000"/>
                </a:solidFill>
                <a:latin typeface="Poppins"/>
                <a:ea typeface="Poppins"/>
                <a:cs typeface="Poppins"/>
                <a:sym typeface="Poppins"/>
              </a:rPr>
              <a:t>membutuhkan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satu</a:t>
            </a:r>
            <a:r>
              <a:rPr lang="en-US" sz="2400" dirty="0">
                <a:solidFill>
                  <a:srgbClr val="000000"/>
                </a:solidFill>
                <a:latin typeface="Poppins"/>
                <a:ea typeface="Poppins"/>
                <a:cs typeface="Poppins"/>
                <a:sym typeface="Poppins"/>
              </a:rPr>
              <a:t> baris </a:t>
            </a:r>
            <a:r>
              <a:rPr lang="en-US" sz="2400" dirty="0" err="1">
                <a:solidFill>
                  <a:srgbClr val="000000"/>
                </a:solidFill>
                <a:latin typeface="Poppins"/>
                <a:ea typeface="Poppins"/>
                <a:cs typeface="Poppins"/>
                <a:sym typeface="Poppins"/>
              </a:rPr>
              <a:t>kunci</a:t>
            </a:r>
            <a:r>
              <a:rPr lang="en-US" sz="2400" dirty="0">
                <a:solidFill>
                  <a:srgbClr val="000000"/>
                </a:solidFill>
                <a:latin typeface="Poppins"/>
                <a:ea typeface="Poppins"/>
                <a:cs typeface="Poppins"/>
                <a:sym typeface="Poppins"/>
              </a:rPr>
              <a:t> (API Key) yang </a:t>
            </a:r>
            <a:r>
              <a:rPr lang="en-US" sz="2400" dirty="0" err="1">
                <a:solidFill>
                  <a:srgbClr val="000000"/>
                </a:solidFill>
                <a:latin typeface="Poppins"/>
                <a:ea typeface="Poppins"/>
                <a:cs typeface="Poppins"/>
                <a:sym typeface="Poppins"/>
              </a:rPr>
              <a:t>dikirimkan</a:t>
            </a:r>
            <a:r>
              <a:rPr lang="en-US" sz="2400" dirty="0">
                <a:solidFill>
                  <a:srgbClr val="000000"/>
                </a:solidFill>
                <a:latin typeface="Poppins"/>
                <a:ea typeface="Poppins"/>
                <a:cs typeface="Poppins"/>
                <a:sym typeface="Poppins"/>
              </a:rPr>
              <a:t> via</a:t>
            </a:r>
          </a:p>
          <a:p>
            <a:pPr algn="l">
              <a:lnSpc>
                <a:spcPts val="3359"/>
              </a:lnSpc>
            </a:pPr>
            <a:r>
              <a:rPr lang="en-US" sz="2400" dirty="0">
                <a:solidFill>
                  <a:srgbClr val="000000"/>
                </a:solidFill>
                <a:latin typeface="Poppins"/>
                <a:ea typeface="Poppins"/>
                <a:cs typeface="Poppins"/>
                <a:sym typeface="Poppins"/>
              </a:rPr>
              <a:t>       parameter HTTP request, </a:t>
            </a:r>
            <a:r>
              <a:rPr lang="en-US" sz="2400" dirty="0" err="1">
                <a:solidFill>
                  <a:srgbClr val="000000"/>
                </a:solidFill>
                <a:latin typeface="Poppins"/>
                <a:ea typeface="Poppins"/>
                <a:cs typeface="Poppins"/>
                <a:sym typeface="Poppins"/>
              </a:rPr>
              <a:t>serta</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mendukung</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integrasi</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penyimpanan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variabel</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aman</a:t>
            </a:r>
            <a:r>
              <a:rPr lang="en-US" sz="2400" dirty="0">
                <a:solidFill>
                  <a:srgbClr val="000000"/>
                </a:solidFill>
                <a:latin typeface="Poppins"/>
                <a:ea typeface="Poppins"/>
                <a:cs typeface="Poppins"/>
                <a:sym typeface="Poppins"/>
              </a:rPr>
              <a:t> </a:t>
            </a:r>
            <a:r>
              <a:rPr lang="en-US" sz="2400" dirty="0" err="1">
                <a:solidFill>
                  <a:srgbClr val="000000"/>
                </a:solidFill>
                <a:latin typeface="Poppins"/>
                <a:ea typeface="Poppins"/>
                <a:cs typeface="Poppins"/>
                <a:sym typeface="Poppins"/>
              </a:rPr>
              <a:t>menggunakan</a:t>
            </a:r>
            <a:r>
              <a:rPr lang="en-US" sz="2400" dirty="0">
                <a:solidFill>
                  <a:srgbClr val="000000"/>
                </a:solidFill>
                <a:latin typeface="Poppins"/>
                <a:ea typeface="Poppins"/>
                <a:cs typeface="Poppins"/>
                <a:sym typeface="Poppins"/>
              </a:rPr>
              <a:t> file</a:t>
            </a:r>
          </a:p>
          <a:p>
            <a:pPr algn="l">
              <a:lnSpc>
                <a:spcPts val="3359"/>
              </a:lnSpc>
            </a:pPr>
            <a:r>
              <a:rPr lang="en-US" sz="2400" dirty="0">
                <a:solidFill>
                  <a:srgbClr val="000000"/>
                </a:solidFill>
                <a:latin typeface="Poppins"/>
                <a:ea typeface="Poppins"/>
                <a:cs typeface="Poppins"/>
                <a:sym typeface="Poppins"/>
              </a:rPr>
              <a:t>       .env.</a:t>
            </a:r>
          </a:p>
          <a:p>
            <a:pPr algn="just">
              <a:lnSpc>
                <a:spcPts val="3359"/>
              </a:lnSpc>
              <a:spcBef>
                <a:spcPct val="0"/>
              </a:spcBef>
            </a:pPr>
            <a:endParaRPr lang="en-US" sz="2400"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123808" y="6122808"/>
            <a:ext cx="3356214" cy="4972169"/>
          </a:xfrm>
          <a:custGeom>
            <a:avLst/>
            <a:gdLst/>
            <a:ahLst/>
            <a:cxnLst/>
            <a:rect l="l" t="t" r="r" b="b"/>
            <a:pathLst>
              <a:path w="3356214" h="4972169">
                <a:moveTo>
                  <a:pt x="3356215" y="0"/>
                </a:moveTo>
                <a:lnTo>
                  <a:pt x="0" y="0"/>
                </a:lnTo>
                <a:lnTo>
                  <a:pt x="0" y="4972169"/>
                </a:lnTo>
                <a:lnTo>
                  <a:pt x="3356215" y="4972169"/>
                </a:lnTo>
                <a:lnTo>
                  <a:pt x="335621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3271685" y="863784"/>
            <a:ext cx="9525" cy="1566544"/>
          </a:xfrm>
          <a:prstGeom prst="rect">
            <a:avLst/>
          </a:prstGeom>
        </p:spPr>
        <p:txBody>
          <a:bodyPr lIns="0" tIns="0" rIns="0" bIns="0" rtlCol="0" anchor="t">
            <a:spAutoFit/>
          </a:bodyPr>
          <a:lstStyle/>
          <a:p>
            <a:pPr algn="ctr">
              <a:lnSpc>
                <a:spcPts val="12880"/>
              </a:lnSpc>
            </a:pPr>
            <a:endParaRPr/>
          </a:p>
        </p:txBody>
      </p:sp>
      <p:sp>
        <p:nvSpPr>
          <p:cNvPr id="5" name="TextBox 5"/>
          <p:cNvSpPr txBox="1"/>
          <p:nvPr/>
        </p:nvSpPr>
        <p:spPr>
          <a:xfrm>
            <a:off x="12489879" y="1394127"/>
            <a:ext cx="9525" cy="1566544"/>
          </a:xfrm>
          <a:prstGeom prst="rect">
            <a:avLst/>
          </a:prstGeom>
        </p:spPr>
        <p:txBody>
          <a:bodyPr lIns="0" tIns="0" rIns="0" bIns="0" rtlCol="0" anchor="t">
            <a:spAutoFit/>
          </a:bodyPr>
          <a:lstStyle/>
          <a:p>
            <a:pPr algn="ctr">
              <a:lnSpc>
                <a:spcPts val="12880"/>
              </a:lnSpc>
            </a:pPr>
            <a:endParaRPr/>
          </a:p>
        </p:txBody>
      </p:sp>
      <p:sp>
        <p:nvSpPr>
          <p:cNvPr id="6" name="TextBox 6"/>
          <p:cNvSpPr txBox="1"/>
          <p:nvPr/>
        </p:nvSpPr>
        <p:spPr>
          <a:xfrm>
            <a:off x="2016014" y="597084"/>
            <a:ext cx="14860553" cy="410369"/>
          </a:xfrm>
          <a:prstGeom prst="rect">
            <a:avLst/>
          </a:prstGeom>
        </p:spPr>
        <p:txBody>
          <a:bodyPr lIns="0" tIns="0" rIns="0" bIns="0" rtlCol="0" anchor="t">
            <a:spAutoFit/>
          </a:bodyPr>
          <a:lstStyle/>
          <a:p>
            <a:pPr algn="ctr">
              <a:lnSpc>
                <a:spcPts val="3240"/>
              </a:lnSpc>
              <a:spcBef>
                <a:spcPct val="0"/>
              </a:spcBef>
            </a:pPr>
            <a:r>
              <a:rPr lang="en-US" sz="2700" b="1" dirty="0">
                <a:solidFill>
                  <a:srgbClr val="000000"/>
                </a:solidFill>
                <a:latin typeface="Poppins Bold"/>
                <a:ea typeface="Poppins Bold"/>
                <a:cs typeface="Poppins Bold"/>
                <a:sym typeface="Poppins Bold"/>
              </a:rPr>
              <a:t>CLASS YANG DIBANGUN BESERTA PERANNYA (ATRIBUT APA SAJA, METHOD APA SAJA)</a:t>
            </a:r>
          </a:p>
        </p:txBody>
      </p:sp>
      <p:sp>
        <p:nvSpPr>
          <p:cNvPr id="7" name="TextBox 7"/>
          <p:cNvSpPr txBox="1"/>
          <p:nvPr/>
        </p:nvSpPr>
        <p:spPr>
          <a:xfrm>
            <a:off x="1212317" y="139706"/>
            <a:ext cx="471488" cy="1177913"/>
          </a:xfrm>
          <a:prstGeom prst="rect">
            <a:avLst/>
          </a:prstGeom>
        </p:spPr>
        <p:txBody>
          <a:bodyPr lIns="0" tIns="0" rIns="0" bIns="0" rtlCol="0" anchor="t">
            <a:spAutoFit/>
          </a:bodyPr>
          <a:lstStyle/>
          <a:p>
            <a:pPr algn="ctr">
              <a:lnSpc>
                <a:spcPts val="9100"/>
              </a:lnSpc>
            </a:pPr>
            <a:r>
              <a:rPr lang="en-US" sz="6500" b="1">
                <a:solidFill>
                  <a:srgbClr val="000000"/>
                </a:solidFill>
                <a:latin typeface="Poppins Bold"/>
                <a:ea typeface="Poppins Bold"/>
                <a:cs typeface="Poppins Bold"/>
                <a:sym typeface="Poppins Bold"/>
              </a:rPr>
              <a:t>2</a:t>
            </a:r>
          </a:p>
        </p:txBody>
      </p:sp>
      <p:sp>
        <p:nvSpPr>
          <p:cNvPr id="8" name="TextBox 8"/>
          <p:cNvSpPr txBox="1"/>
          <p:nvPr/>
        </p:nvSpPr>
        <p:spPr>
          <a:xfrm>
            <a:off x="1250035" y="1554385"/>
            <a:ext cx="16274945" cy="7678897"/>
          </a:xfrm>
          <a:prstGeom prst="rect">
            <a:avLst/>
          </a:prstGeom>
        </p:spPr>
        <p:txBody>
          <a:bodyPr lIns="0" tIns="0" rIns="0" bIns="0" rtlCol="0" anchor="t">
            <a:spAutoFit/>
          </a:bodyPr>
          <a:lstStyle/>
          <a:p>
            <a:pPr algn="l">
              <a:lnSpc>
                <a:spcPts val="2520"/>
              </a:lnSpc>
              <a:spcBef>
                <a:spcPct val="0"/>
              </a:spcBef>
            </a:pPr>
            <a:r>
              <a:rPr lang="en-US" sz="2000" b="1" dirty="0">
                <a:solidFill>
                  <a:srgbClr val="000000"/>
                </a:solidFill>
                <a:latin typeface="Poppins Bold"/>
                <a:ea typeface="Poppins Bold"/>
                <a:cs typeface="Poppins Bold"/>
                <a:sym typeface="Poppins Bold"/>
              </a:rPr>
              <a:t>Nama Class : </a:t>
            </a:r>
            <a:r>
              <a:rPr lang="en-US" sz="2000" b="1" dirty="0" err="1">
                <a:solidFill>
                  <a:srgbClr val="000000"/>
                </a:solidFill>
                <a:latin typeface="Poppins Bold"/>
                <a:ea typeface="Poppins Bold"/>
                <a:cs typeface="Poppins Bold"/>
                <a:sym typeface="Poppins Bold"/>
              </a:rPr>
              <a:t>KlienBerita</a:t>
            </a:r>
            <a:endParaRPr lang="en-US" sz="2000" b="1" dirty="0">
              <a:solidFill>
                <a:srgbClr val="000000"/>
              </a:solidFill>
              <a:latin typeface="Poppins Bold"/>
              <a:ea typeface="Poppins Bold"/>
              <a:cs typeface="Poppins Bold"/>
              <a:sym typeface="Poppins Bold"/>
            </a:endParaRPr>
          </a:p>
          <a:p>
            <a:pPr algn="l">
              <a:lnSpc>
                <a:spcPts val="2520"/>
              </a:lnSpc>
              <a:spcBef>
                <a:spcPct val="0"/>
              </a:spcBef>
            </a:pPr>
            <a:endParaRPr lang="en-US" sz="1800" b="1" dirty="0">
              <a:solidFill>
                <a:srgbClr val="000000"/>
              </a:solidFill>
              <a:latin typeface="Poppins Bold"/>
              <a:ea typeface="Poppins Bold"/>
              <a:cs typeface="Poppins Bold"/>
              <a:sym typeface="Poppins Bold"/>
            </a:endParaRPr>
          </a:p>
          <a:p>
            <a:pPr algn="l">
              <a:lnSpc>
                <a:spcPts val="2520"/>
              </a:lnSpc>
              <a:spcBef>
                <a:spcPct val="0"/>
              </a:spcBef>
            </a:pPr>
            <a:r>
              <a:rPr lang="en-US" sz="1800" dirty="0">
                <a:solidFill>
                  <a:srgbClr val="000000"/>
                </a:solidFill>
                <a:latin typeface="Poppins"/>
                <a:ea typeface="Poppins"/>
                <a:cs typeface="Poppins"/>
                <a:sym typeface="Poppins"/>
              </a:rPr>
              <a:t>Peran Class: </a:t>
            </a:r>
            <a:r>
              <a:rPr lang="en-US" sz="1800" dirty="0" err="1">
                <a:solidFill>
                  <a:srgbClr val="000000"/>
                </a:solidFill>
                <a:latin typeface="Poppins"/>
                <a:ea typeface="Poppins"/>
                <a:cs typeface="Poppins"/>
                <a:sym typeface="Poppins"/>
              </a:rPr>
              <a:t>Sebagai</a:t>
            </a:r>
            <a:r>
              <a:rPr lang="en-US" sz="1800" dirty="0">
                <a:solidFill>
                  <a:srgbClr val="000000"/>
                </a:solidFill>
                <a:latin typeface="Poppins"/>
                <a:ea typeface="Poppins"/>
                <a:cs typeface="Poppins"/>
                <a:sym typeface="Poppins"/>
              </a:rPr>
              <a:t> wrapper </a:t>
            </a:r>
            <a:r>
              <a:rPr lang="en-US" sz="1800" dirty="0" err="1">
                <a:solidFill>
                  <a:srgbClr val="000000"/>
                </a:solidFill>
                <a:latin typeface="Poppins"/>
                <a:ea typeface="Poppins"/>
                <a:cs typeface="Poppins"/>
                <a:sym typeface="Poppins"/>
              </a:rPr>
              <a:t>atau</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perantara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interaksi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dengan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NewsAPI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untuk</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melakukan</a:t>
            </a:r>
            <a:r>
              <a:rPr lang="en-US" sz="1800" dirty="0">
                <a:solidFill>
                  <a:srgbClr val="000000"/>
                </a:solidFill>
                <a:latin typeface="Poppins"/>
                <a:ea typeface="Poppins"/>
                <a:cs typeface="Poppins"/>
                <a:sym typeface="Poppins"/>
              </a:rPr>
              <a:t> request data </a:t>
            </a:r>
            <a:r>
              <a:rPr lang="en-US" sz="1800" dirty="0" err="1">
                <a:solidFill>
                  <a:srgbClr val="000000"/>
                </a:solidFill>
                <a:latin typeface="Poppins"/>
                <a:ea typeface="Poppins"/>
                <a:cs typeface="Poppins"/>
                <a:sym typeface="Poppins"/>
              </a:rPr>
              <a:t>berita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secara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terstruktur</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aman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dari</a:t>
            </a:r>
            <a:r>
              <a:rPr lang="en-US" sz="1800" dirty="0">
                <a:solidFill>
                  <a:srgbClr val="000000"/>
                </a:solidFill>
                <a:latin typeface="Poppins"/>
                <a:ea typeface="Poppins"/>
                <a:cs typeface="Poppins"/>
                <a:sym typeface="Poppins"/>
              </a:rPr>
              <a:t> timeout, dan </a:t>
            </a:r>
            <a:r>
              <a:rPr lang="en-US" sz="1800" dirty="0" err="1">
                <a:solidFill>
                  <a:srgbClr val="000000"/>
                </a:solidFill>
                <a:latin typeface="Poppins"/>
                <a:ea typeface="Poppins"/>
                <a:cs typeface="Poppins"/>
                <a:sym typeface="Poppins"/>
              </a:rPr>
              <a:t>langsung</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mengembalikannya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dalam</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bentuk</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DataFrame</a:t>
            </a:r>
            <a:r>
              <a:rPr lang="en-US" sz="1800" dirty="0">
                <a:solidFill>
                  <a:srgbClr val="000000"/>
                </a:solidFill>
                <a:latin typeface="Poppins"/>
                <a:ea typeface="Poppins"/>
                <a:cs typeface="Poppins"/>
                <a:sym typeface="Poppins"/>
              </a:rPr>
              <a:t>.</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2000" b="1" dirty="0" err="1">
                <a:solidFill>
                  <a:srgbClr val="000000"/>
                </a:solidFill>
                <a:latin typeface="Poppins Bold"/>
                <a:ea typeface="Poppins Bold"/>
                <a:cs typeface="Poppins Bold"/>
                <a:sym typeface="Poppins Bold"/>
              </a:rPr>
              <a:t>Atribut</a:t>
            </a:r>
            <a:r>
              <a:rPr lang="en-US" sz="2000" b="1" dirty="0">
                <a:solidFill>
                  <a:srgbClr val="000000"/>
                </a:solidFill>
                <a:latin typeface="Poppins Bold"/>
                <a:ea typeface="Poppins Bold"/>
                <a:cs typeface="Poppins Bold"/>
                <a:sym typeface="Poppins Bold"/>
              </a:rPr>
              <a:t>:</a:t>
            </a:r>
          </a:p>
          <a:p>
            <a:pPr algn="l">
              <a:lnSpc>
                <a:spcPts val="2520"/>
              </a:lnSpc>
              <a:spcBef>
                <a:spcPct val="0"/>
              </a:spcBef>
            </a:pPr>
            <a:r>
              <a:rPr lang="en-US" sz="1800" dirty="0" err="1">
                <a:solidFill>
                  <a:srgbClr val="000000"/>
                </a:solidFill>
                <a:latin typeface="Poppins"/>
                <a:ea typeface="Poppins"/>
                <a:cs typeface="Poppins"/>
                <a:sym typeface="Poppins"/>
              </a:rPr>
              <a:t>self.api_key</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Menyimpan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Kunci</a:t>
            </a:r>
            <a:r>
              <a:rPr lang="en-US" sz="1800" dirty="0">
                <a:solidFill>
                  <a:srgbClr val="000000"/>
                </a:solidFill>
                <a:latin typeface="Poppins"/>
                <a:ea typeface="Poppins"/>
                <a:cs typeface="Poppins"/>
                <a:sym typeface="Poppins"/>
              </a:rPr>
              <a:t> API (API Key) </a:t>
            </a:r>
            <a:r>
              <a:rPr lang="en-US" sz="1800" dirty="0" err="1">
                <a:solidFill>
                  <a:srgbClr val="000000"/>
                </a:solidFill>
                <a:latin typeface="Poppins"/>
                <a:ea typeface="Poppins"/>
                <a:cs typeface="Poppins"/>
                <a:sym typeface="Poppins"/>
              </a:rPr>
              <a:t>autentikasi</a:t>
            </a:r>
            <a:r>
              <a:rPr lang="en-US" sz="1800" dirty="0">
                <a:solidFill>
                  <a:srgbClr val="000000"/>
                </a:solidFill>
                <a:latin typeface="Poppins"/>
                <a:ea typeface="Poppins"/>
                <a:cs typeface="Poppins"/>
                <a:sym typeface="Poppins"/>
              </a:rPr>
              <a:t> agar </a:t>
            </a:r>
            <a:r>
              <a:rPr lang="en-US" sz="1800" dirty="0" err="1">
                <a:solidFill>
                  <a:srgbClr val="000000"/>
                </a:solidFill>
                <a:latin typeface="Poppins"/>
                <a:ea typeface="Poppins"/>
                <a:cs typeface="Poppins"/>
                <a:sym typeface="Poppins"/>
              </a:rPr>
              <a:t>dapat</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digunakan</a:t>
            </a:r>
            <a:r>
              <a:rPr lang="en-US" sz="1800" dirty="0">
                <a:solidFill>
                  <a:srgbClr val="000000"/>
                </a:solidFill>
                <a:latin typeface="Poppins"/>
                <a:ea typeface="Poppins"/>
                <a:cs typeface="Poppins"/>
                <a:sym typeface="Poppins"/>
              </a:rPr>
              <a:t> oleh </a:t>
            </a:r>
            <a:r>
              <a:rPr lang="en-US" sz="1800" dirty="0" err="1">
                <a:solidFill>
                  <a:srgbClr val="000000"/>
                </a:solidFill>
                <a:latin typeface="Poppins"/>
                <a:ea typeface="Poppins"/>
                <a:cs typeface="Poppins"/>
                <a:sym typeface="Poppins"/>
              </a:rPr>
              <a:t>seluruh</a:t>
            </a:r>
            <a:r>
              <a:rPr lang="en-US" sz="1800" dirty="0">
                <a:solidFill>
                  <a:srgbClr val="000000"/>
                </a:solidFill>
                <a:latin typeface="Poppins"/>
                <a:ea typeface="Poppins"/>
                <a:cs typeface="Poppins"/>
                <a:sym typeface="Poppins"/>
              </a:rPr>
              <a:t> method di </a:t>
            </a:r>
            <a:r>
              <a:rPr lang="en-US" sz="1800" dirty="0" err="1">
                <a:solidFill>
                  <a:srgbClr val="000000"/>
                </a:solidFill>
                <a:latin typeface="Poppins"/>
                <a:ea typeface="Poppins"/>
                <a:cs typeface="Poppins"/>
                <a:sym typeface="Poppins"/>
              </a:rPr>
              <a:t>dalam</a:t>
            </a:r>
            <a:r>
              <a:rPr lang="en-US" sz="1800" dirty="0">
                <a:solidFill>
                  <a:srgbClr val="000000"/>
                </a:solidFill>
                <a:latin typeface="Poppins"/>
                <a:ea typeface="Poppins"/>
                <a:cs typeface="Poppins"/>
                <a:sym typeface="Poppins"/>
              </a:rPr>
              <a:t> class.</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self.alamat_api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Menyimpan</a:t>
            </a:r>
            <a:r>
              <a:rPr lang="en-US" sz="1800" dirty="0">
                <a:solidFill>
                  <a:srgbClr val="000000"/>
                </a:solidFill>
                <a:latin typeface="Poppins"/>
                <a:ea typeface="Poppins"/>
                <a:cs typeface="Poppins"/>
                <a:sym typeface="Poppins"/>
              </a:rPr>
              <a:t> URL </a:t>
            </a:r>
            <a:r>
              <a:rPr lang="en-US" sz="1800" dirty="0" err="1">
                <a:solidFill>
                  <a:srgbClr val="000000"/>
                </a:solidFill>
                <a:latin typeface="Poppins"/>
                <a:ea typeface="Poppins"/>
                <a:cs typeface="Poppins"/>
                <a:sym typeface="Poppins"/>
              </a:rPr>
              <a:t>dasar</a:t>
            </a:r>
            <a:r>
              <a:rPr lang="en-US" sz="1800" dirty="0">
                <a:solidFill>
                  <a:srgbClr val="000000"/>
                </a:solidFill>
                <a:latin typeface="Poppins"/>
                <a:ea typeface="Poppins"/>
                <a:cs typeface="Poppins"/>
                <a:sym typeface="Poppins"/>
              </a:rPr>
              <a:t> endpoint </a:t>
            </a:r>
            <a:r>
              <a:rPr lang="en-US" sz="1800" dirty="0" err="1">
                <a:solidFill>
                  <a:srgbClr val="000000"/>
                </a:solidFill>
                <a:latin typeface="Poppins"/>
                <a:ea typeface="Poppins"/>
                <a:cs typeface="Poppins"/>
                <a:sym typeface="Poppins"/>
              </a:rPr>
              <a:t>NewsAPI</a:t>
            </a:r>
            <a:r>
              <a:rPr lang="en-US" sz="1800" dirty="0">
                <a:solidFill>
                  <a:srgbClr val="000000"/>
                </a:solidFill>
                <a:latin typeface="Poppins"/>
                <a:ea typeface="Poppins"/>
                <a:cs typeface="Poppins"/>
                <a:sym typeface="Poppins"/>
              </a:rPr>
              <a:t> ([https://newsapi.org/v2/everything](</a:t>
            </a:r>
            <a:r>
              <a:rPr lang="en-US" sz="1800" dirty="0">
                <a:solidFill>
                  <a:srgbClr val="000000"/>
                </a:solidFill>
                <a:latin typeface="Poppins"/>
                <a:ea typeface="Poppins"/>
                <a:cs typeface="Poppins"/>
                <a:sym typeface="Poppins"/>
                <a:hlinkClick r:id="rId4"/>
              </a:rPr>
              <a:t>https://newsapi.org/v2/everything)</a:t>
            </a:r>
            <a:r>
              <a:rPr lang="en-US" sz="1800" dirty="0">
                <a:solidFill>
                  <a:srgbClr val="000000"/>
                </a:solidFill>
                <a:latin typeface="Poppins"/>
                <a:ea typeface="Poppins"/>
                <a:cs typeface="Poppins"/>
                <a:sym typeface="Poppins"/>
              </a:rPr>
              <a:t>).</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2000" b="1" dirty="0">
                <a:solidFill>
                  <a:srgbClr val="000000"/>
                </a:solidFill>
                <a:latin typeface="Poppins Bold"/>
                <a:ea typeface="Poppins Bold"/>
                <a:cs typeface="Poppins Bold"/>
                <a:sym typeface="Poppins Bold"/>
              </a:rPr>
              <a:t>Method:</a:t>
            </a:r>
          </a:p>
          <a:p>
            <a:pPr algn="l">
              <a:lnSpc>
                <a:spcPts val="2520"/>
              </a:lnSpc>
              <a:spcBef>
                <a:spcPct val="0"/>
              </a:spcBef>
            </a:pPr>
            <a:r>
              <a:rPr lang="en-US" sz="1800" dirty="0">
                <a:solidFill>
                  <a:srgbClr val="000000"/>
                </a:solidFill>
                <a:latin typeface="Poppins"/>
                <a:ea typeface="Poppins"/>
                <a:cs typeface="Poppins"/>
                <a:sym typeface="Poppins"/>
              </a:rPr>
              <a:t>__</a:t>
            </a:r>
            <a:r>
              <a:rPr lang="en-US" sz="1800" dirty="0" err="1">
                <a:solidFill>
                  <a:srgbClr val="000000"/>
                </a:solidFill>
                <a:latin typeface="Poppins"/>
                <a:ea typeface="Poppins"/>
                <a:cs typeface="Poppins"/>
                <a:sym typeface="Poppins"/>
              </a:rPr>
              <a:t>init</a:t>
            </a:r>
            <a:r>
              <a:rPr lang="en-US" sz="1800" dirty="0">
                <a:solidFill>
                  <a:srgbClr val="000000"/>
                </a:solidFill>
                <a:latin typeface="Poppins"/>
                <a:ea typeface="Poppins"/>
                <a:cs typeface="Poppins"/>
                <a:sym typeface="Poppins"/>
              </a:rPr>
              <a:t>__(self, </a:t>
            </a:r>
            <a:r>
              <a:rPr lang="en-US" sz="1800" dirty="0" err="1">
                <a:solidFill>
                  <a:srgbClr val="000000"/>
                </a:solidFill>
                <a:latin typeface="Poppins"/>
                <a:ea typeface="Poppins"/>
                <a:cs typeface="Poppins"/>
                <a:sym typeface="Poppins"/>
              </a:rPr>
              <a:t>api_key</a:t>
            </a:r>
            <a:r>
              <a:rPr lang="en-US" sz="1800" dirty="0">
                <a:solidFill>
                  <a:srgbClr val="000000"/>
                </a:solidFill>
                <a:latin typeface="Poppins"/>
                <a:ea typeface="Poppins"/>
                <a:cs typeface="Poppins"/>
                <a:sym typeface="Poppins"/>
              </a:rPr>
              <a:t>): Constructor </a:t>
            </a:r>
            <a:r>
              <a:rPr lang="en-US" sz="1800" dirty="0" err="1">
                <a:solidFill>
                  <a:srgbClr val="000000"/>
                </a:solidFill>
                <a:latin typeface="Poppins"/>
                <a:ea typeface="Poppins"/>
                <a:cs typeface="Poppins"/>
                <a:sym typeface="Poppins"/>
              </a:rPr>
              <a:t>untuk</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menginisialisasi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properti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KlienBerita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kunci</a:t>
            </a:r>
            <a:r>
              <a:rPr lang="en-US" sz="1800" dirty="0">
                <a:solidFill>
                  <a:srgbClr val="000000"/>
                </a:solidFill>
                <a:latin typeface="Poppins"/>
                <a:ea typeface="Poppins"/>
                <a:cs typeface="Poppins"/>
                <a:sym typeface="Poppins"/>
              </a:rPr>
              <a:t> API dan URL API).</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ambil_berita</a:t>
            </a:r>
            <a:r>
              <a:rPr lang="en-US" sz="1800" dirty="0">
                <a:solidFill>
                  <a:srgbClr val="000000"/>
                </a:solidFill>
                <a:latin typeface="Poppins"/>
                <a:ea typeface="Poppins"/>
                <a:cs typeface="Poppins"/>
                <a:sym typeface="Poppins"/>
              </a:rPr>
              <a:t>(self, </a:t>
            </a:r>
            <a:r>
              <a:rPr lang="en-US" sz="1800" dirty="0" err="1">
                <a:solidFill>
                  <a:srgbClr val="000000"/>
                </a:solidFill>
                <a:latin typeface="Poppins"/>
                <a:ea typeface="Poppins"/>
                <a:cs typeface="Poppins"/>
                <a:sym typeface="Poppins"/>
              </a:rPr>
              <a:t>kata_kunci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jumlah</a:t>
            </a:r>
            <a:r>
              <a:rPr lang="en-US" sz="1800" dirty="0">
                <a:solidFill>
                  <a:srgbClr val="000000"/>
                </a:solidFill>
                <a:latin typeface="Poppins"/>
                <a:ea typeface="Poppins"/>
                <a:cs typeface="Poppins"/>
                <a:sym typeface="Poppins"/>
              </a:rPr>
              <a:t>):</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Membentuk</a:t>
            </a:r>
            <a:r>
              <a:rPr lang="en-US" sz="1800" dirty="0">
                <a:solidFill>
                  <a:srgbClr val="000000"/>
                </a:solidFill>
                <a:latin typeface="Poppins"/>
                <a:ea typeface="Poppins"/>
                <a:cs typeface="Poppins"/>
                <a:sym typeface="Poppins"/>
              </a:rPr>
              <a:t> parameter request (q, language, </a:t>
            </a:r>
            <a:r>
              <a:rPr lang="en-US" sz="1800" dirty="0" err="1">
                <a:solidFill>
                  <a:srgbClr val="000000"/>
                </a:solidFill>
                <a:latin typeface="Poppins"/>
                <a:ea typeface="Poppins"/>
                <a:cs typeface="Poppins"/>
                <a:sym typeface="Poppins"/>
              </a:rPr>
              <a:t>pageSize</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apiKey</a:t>
            </a:r>
            <a:r>
              <a:rPr lang="en-US" sz="1800" dirty="0">
                <a:solidFill>
                  <a:srgbClr val="000000"/>
                </a:solidFill>
                <a:latin typeface="Poppins"/>
                <a:ea typeface="Poppins"/>
                <a:cs typeface="Poppins"/>
                <a:sym typeface="Poppins"/>
              </a:rPr>
              <a:t>).</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Mengirim</a:t>
            </a:r>
            <a:r>
              <a:rPr lang="en-US" sz="1800" dirty="0">
                <a:solidFill>
                  <a:srgbClr val="000000"/>
                </a:solidFill>
                <a:latin typeface="Poppins"/>
                <a:ea typeface="Poppins"/>
                <a:cs typeface="Poppins"/>
                <a:sym typeface="Poppins"/>
              </a:rPr>
              <a:t> request </a:t>
            </a:r>
            <a:r>
              <a:rPr lang="en-US" sz="1800" dirty="0" err="1">
                <a:solidFill>
                  <a:srgbClr val="000000"/>
                </a:solidFill>
                <a:latin typeface="Poppins"/>
                <a:ea typeface="Poppins"/>
                <a:cs typeface="Poppins"/>
                <a:sym typeface="Poppins"/>
              </a:rPr>
              <a:t>ke</a:t>
            </a:r>
            <a:r>
              <a:rPr lang="en-US" sz="1800" dirty="0">
                <a:solidFill>
                  <a:srgbClr val="000000"/>
                </a:solidFill>
                <a:latin typeface="Poppins"/>
                <a:ea typeface="Poppins"/>
                <a:cs typeface="Poppins"/>
                <a:sym typeface="Poppins"/>
              </a:rPr>
              <a:t> API </a:t>
            </a:r>
            <a:r>
              <a:rPr lang="en-US" sz="1800" dirty="0" err="1">
                <a:solidFill>
                  <a:srgbClr val="000000"/>
                </a:solidFill>
                <a:latin typeface="Poppins"/>
                <a:ea typeface="Poppins"/>
                <a:cs typeface="Poppins"/>
                <a:sym typeface="Poppins"/>
              </a:rPr>
              <a:t>dengan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mekanisme</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proteksi</a:t>
            </a:r>
            <a:r>
              <a:rPr lang="en-US" sz="1800" dirty="0">
                <a:solidFill>
                  <a:srgbClr val="000000"/>
                </a:solidFill>
                <a:latin typeface="Poppins"/>
                <a:ea typeface="Poppins"/>
                <a:cs typeface="Poppins"/>
                <a:sym typeface="Poppins"/>
              </a:rPr>
              <a:t> try-except (</a:t>
            </a:r>
            <a:r>
              <a:rPr lang="en-US" sz="1800" dirty="0" err="1">
                <a:solidFill>
                  <a:srgbClr val="000000"/>
                </a:solidFill>
                <a:latin typeface="Poppins"/>
                <a:ea typeface="Poppins"/>
                <a:cs typeface="Poppins"/>
                <a:sym typeface="Poppins"/>
              </a:rPr>
              <a:t>percobaan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ulang</a:t>
            </a:r>
            <a:r>
              <a:rPr lang="en-US" sz="1800" dirty="0">
                <a:solidFill>
                  <a:srgbClr val="000000"/>
                </a:solidFill>
                <a:latin typeface="Poppins"/>
                <a:ea typeface="Poppins"/>
                <a:cs typeface="Poppins"/>
                <a:sym typeface="Poppins"/>
              </a:rPr>
              <a:t>/retry </a:t>
            </a:r>
            <a:r>
              <a:rPr lang="en-US" sz="1800" dirty="0" err="1">
                <a:solidFill>
                  <a:srgbClr val="000000"/>
                </a:solidFill>
                <a:latin typeface="Poppins"/>
                <a:ea typeface="Poppins"/>
                <a:cs typeface="Poppins"/>
                <a:sym typeface="Poppins"/>
              </a:rPr>
              <a:t>otomatis</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jika</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terjadi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masalah</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koneksi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dengan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waktu</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tunggu</a:t>
            </a:r>
            <a:r>
              <a:rPr lang="en-US" sz="1800" dirty="0">
                <a:solidFill>
                  <a:srgbClr val="000000"/>
                </a:solidFill>
                <a:latin typeface="Poppins"/>
                <a:ea typeface="Poppins"/>
                <a:cs typeface="Poppins"/>
                <a:sym typeface="Poppins"/>
              </a:rPr>
              <a:t> 3 </a:t>
            </a:r>
            <a:r>
              <a:rPr lang="en-US" sz="1800" dirty="0" err="1">
                <a:solidFill>
                  <a:srgbClr val="000000"/>
                </a:solidFill>
                <a:latin typeface="Poppins"/>
                <a:ea typeface="Poppins"/>
                <a:cs typeface="Poppins"/>
                <a:sym typeface="Poppins"/>
              </a:rPr>
              <a:t>detik</a:t>
            </a:r>
            <a:r>
              <a:rPr lang="en-US" sz="1800" dirty="0">
                <a:solidFill>
                  <a:srgbClr val="000000"/>
                </a:solidFill>
                <a:latin typeface="Poppins"/>
                <a:ea typeface="Poppins"/>
                <a:cs typeface="Poppins"/>
                <a:sym typeface="Poppins"/>
              </a:rPr>
              <a:t> dan timeout 20 </a:t>
            </a:r>
            <a:r>
              <a:rPr lang="en-US" sz="1800" dirty="0" err="1">
                <a:solidFill>
                  <a:srgbClr val="000000"/>
                </a:solidFill>
                <a:latin typeface="Poppins"/>
                <a:ea typeface="Poppins"/>
                <a:cs typeface="Poppins"/>
                <a:sym typeface="Poppins"/>
              </a:rPr>
              <a:t>detik</a:t>
            </a:r>
            <a:r>
              <a:rPr lang="en-US" sz="1800" dirty="0">
                <a:solidFill>
                  <a:srgbClr val="000000"/>
                </a:solidFill>
                <a:latin typeface="Poppins"/>
                <a:ea typeface="Poppins"/>
                <a:cs typeface="Poppins"/>
                <a:sym typeface="Poppins"/>
              </a:rPr>
              <a:t>).</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Melakukan</a:t>
            </a:r>
            <a:r>
              <a:rPr lang="en-US" sz="1800" dirty="0">
                <a:solidFill>
                  <a:srgbClr val="000000"/>
                </a:solidFill>
                <a:latin typeface="Poppins"/>
                <a:ea typeface="Poppins"/>
                <a:cs typeface="Poppins"/>
                <a:sym typeface="Poppins"/>
              </a:rPr>
              <a:t> parsing </a:t>
            </a:r>
            <a:r>
              <a:rPr lang="en-US" sz="1800" dirty="0" err="1">
                <a:solidFill>
                  <a:srgbClr val="000000"/>
                </a:solidFill>
                <a:latin typeface="Poppins"/>
                <a:ea typeface="Poppins"/>
                <a:cs typeface="Poppins"/>
                <a:sym typeface="Poppins"/>
              </a:rPr>
              <a:t>respons</a:t>
            </a:r>
            <a:r>
              <a:rPr lang="en-US" sz="1800" dirty="0">
                <a:solidFill>
                  <a:srgbClr val="000000"/>
                </a:solidFill>
                <a:latin typeface="Poppins"/>
                <a:ea typeface="Poppins"/>
                <a:cs typeface="Poppins"/>
                <a:sym typeface="Poppins"/>
              </a:rPr>
              <a:t> JSON dan </a:t>
            </a:r>
            <a:r>
              <a:rPr lang="en-US" sz="1800" dirty="0" err="1">
                <a:solidFill>
                  <a:srgbClr val="000000"/>
                </a:solidFill>
                <a:latin typeface="Poppins"/>
                <a:ea typeface="Poppins"/>
                <a:cs typeface="Poppins"/>
                <a:sym typeface="Poppins"/>
              </a:rPr>
              <a:t>mengekstrak</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kolom</a:t>
            </a:r>
            <a:r>
              <a:rPr lang="en-US" sz="1800" dirty="0">
                <a:solidFill>
                  <a:srgbClr val="000000"/>
                </a:solidFill>
                <a:latin typeface="Poppins"/>
                <a:ea typeface="Poppins"/>
                <a:cs typeface="Poppins"/>
                <a:sym typeface="Poppins"/>
              </a:rPr>
              <a:t> yang </a:t>
            </a:r>
            <a:r>
              <a:rPr lang="en-US" sz="1800" dirty="0" err="1">
                <a:solidFill>
                  <a:srgbClr val="000000"/>
                </a:solidFill>
                <a:latin typeface="Poppins"/>
                <a:ea typeface="Poppins"/>
                <a:cs typeface="Poppins"/>
                <a:sym typeface="Poppins"/>
              </a:rPr>
              <a:t>dibutuhkan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Judul</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Deskripsi</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Sumber</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Tanggal</a:t>
            </a:r>
            <a:r>
              <a:rPr lang="en-US" sz="1800" dirty="0">
                <a:solidFill>
                  <a:srgbClr val="000000"/>
                </a:solidFill>
                <a:latin typeface="Poppins"/>
                <a:ea typeface="Poppins"/>
                <a:cs typeface="Poppins"/>
                <a:sym typeface="Poppins"/>
              </a:rPr>
              <a:t>, URL).</a:t>
            </a:r>
          </a:p>
          <a:p>
            <a:pPr algn="l">
              <a:lnSpc>
                <a:spcPts val="2520"/>
              </a:lnSpc>
              <a:spcBef>
                <a:spcPct val="0"/>
              </a:spcBef>
            </a:pPr>
            <a:endParaRPr lang="en-US" sz="1800" dirty="0">
              <a:solidFill>
                <a:srgbClr val="000000"/>
              </a:solidFill>
              <a:latin typeface="Poppins"/>
              <a:ea typeface="Poppins"/>
              <a:cs typeface="Poppins"/>
              <a:sym typeface="Poppins"/>
            </a:endParaRPr>
          </a:p>
          <a:p>
            <a:pPr algn="l">
              <a:lnSpc>
                <a:spcPts val="2520"/>
              </a:lnSpc>
              <a:spcBef>
                <a:spcPct val="0"/>
              </a:spcBef>
            </a:pPr>
            <a:r>
              <a:rPr lang="en-US" sz="1800" dirty="0" err="1">
                <a:solidFill>
                  <a:srgbClr val="000000"/>
                </a:solidFill>
                <a:latin typeface="Poppins"/>
                <a:ea typeface="Poppins"/>
                <a:cs typeface="Poppins"/>
                <a:sym typeface="Poppins"/>
              </a:rPr>
              <a:t>Mengembalikan</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hasil</a:t>
            </a:r>
            <a:r>
              <a:rPr lang="en-US" sz="1800" dirty="0">
                <a:solidFill>
                  <a:srgbClr val="000000"/>
                </a:solidFill>
                <a:latin typeface="Poppins"/>
                <a:ea typeface="Poppins"/>
                <a:cs typeface="Poppins"/>
                <a:sym typeface="Poppins"/>
              </a:rPr>
              <a:t> </a:t>
            </a:r>
            <a:r>
              <a:rPr lang="en-US" sz="1800" dirty="0" err="1">
                <a:solidFill>
                  <a:srgbClr val="000000"/>
                </a:solidFill>
                <a:latin typeface="Poppins"/>
                <a:ea typeface="Poppins"/>
                <a:cs typeface="Poppins"/>
                <a:sym typeface="Poppins"/>
              </a:rPr>
              <a:t>ekstraksi</a:t>
            </a:r>
            <a:r>
              <a:rPr lang="en-US" sz="1800" dirty="0">
                <a:solidFill>
                  <a:srgbClr val="000000"/>
                </a:solidFill>
                <a:latin typeface="Poppins"/>
                <a:ea typeface="Poppins"/>
                <a:cs typeface="Poppins"/>
                <a:sym typeface="Poppins"/>
              </a:rPr>
              <a:t> data </a:t>
            </a:r>
            <a:r>
              <a:rPr lang="en-US" sz="1800" dirty="0" err="1">
                <a:solidFill>
                  <a:srgbClr val="000000"/>
                </a:solidFill>
                <a:latin typeface="Poppins"/>
                <a:ea typeface="Poppins"/>
                <a:cs typeface="Poppins"/>
                <a:sym typeface="Poppins"/>
              </a:rPr>
              <a:t>berupa</a:t>
            </a:r>
            <a:r>
              <a:rPr lang="en-US" sz="1800" dirty="0">
                <a:solidFill>
                  <a:srgbClr val="000000"/>
                </a:solidFill>
                <a:latin typeface="Poppins"/>
                <a:ea typeface="Poppins"/>
                <a:cs typeface="Poppins"/>
                <a:sym typeface="Poppins"/>
              </a:rPr>
              <a:t> Pandas </a:t>
            </a:r>
            <a:r>
              <a:rPr lang="en-US" sz="1800" dirty="0" err="1">
                <a:solidFill>
                  <a:srgbClr val="000000"/>
                </a:solidFill>
                <a:latin typeface="Poppins"/>
                <a:ea typeface="Poppins"/>
                <a:cs typeface="Poppins"/>
                <a:sym typeface="Poppins"/>
              </a:rPr>
              <a:t>DataFrame</a:t>
            </a:r>
            <a:r>
              <a:rPr lang="en-US" sz="1800" dirty="0">
                <a:solidFill>
                  <a:srgbClr val="000000"/>
                </a:solidFill>
                <a:latin typeface="Poppins"/>
                <a:ea typeface="Poppins"/>
                <a:cs typeface="Poppins"/>
                <a:sym typeface="Poppi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123808" y="6122808"/>
            <a:ext cx="3356214" cy="4972169"/>
          </a:xfrm>
          <a:custGeom>
            <a:avLst/>
            <a:gdLst/>
            <a:ahLst/>
            <a:cxnLst/>
            <a:rect l="l" t="t" r="r" b="b"/>
            <a:pathLst>
              <a:path w="3356214" h="4972169">
                <a:moveTo>
                  <a:pt x="3356215" y="0"/>
                </a:moveTo>
                <a:lnTo>
                  <a:pt x="0" y="0"/>
                </a:lnTo>
                <a:lnTo>
                  <a:pt x="0" y="4972169"/>
                </a:lnTo>
                <a:lnTo>
                  <a:pt x="3356215" y="4972169"/>
                </a:lnTo>
                <a:lnTo>
                  <a:pt x="335621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17007" y="5359140"/>
            <a:ext cx="9686848" cy="2682196"/>
          </a:xfrm>
          <a:custGeom>
            <a:avLst/>
            <a:gdLst/>
            <a:ahLst/>
            <a:cxnLst/>
            <a:rect l="l" t="t" r="r" b="b"/>
            <a:pathLst>
              <a:path w="9686848" h="2682196">
                <a:moveTo>
                  <a:pt x="0" y="0"/>
                </a:moveTo>
                <a:lnTo>
                  <a:pt x="9686848" y="0"/>
                </a:lnTo>
                <a:lnTo>
                  <a:pt x="9686848" y="2682196"/>
                </a:lnTo>
                <a:lnTo>
                  <a:pt x="0" y="2682196"/>
                </a:lnTo>
                <a:lnTo>
                  <a:pt x="0" y="0"/>
                </a:lnTo>
                <a:close/>
              </a:path>
            </a:pathLst>
          </a:custGeom>
          <a:blipFill>
            <a:blip r:embed="rId4"/>
            <a:stretch>
              <a:fillRect t="-824"/>
            </a:stretch>
          </a:blipFill>
        </p:spPr>
      </p:sp>
      <p:sp>
        <p:nvSpPr>
          <p:cNvPr id="4" name="Freeform 4"/>
          <p:cNvSpPr/>
          <p:nvPr/>
        </p:nvSpPr>
        <p:spPr>
          <a:xfrm>
            <a:off x="1217007" y="8592658"/>
            <a:ext cx="9686848" cy="665642"/>
          </a:xfrm>
          <a:custGeom>
            <a:avLst/>
            <a:gdLst/>
            <a:ahLst/>
            <a:cxnLst/>
            <a:rect l="l" t="t" r="r" b="b"/>
            <a:pathLst>
              <a:path w="9686848" h="665642">
                <a:moveTo>
                  <a:pt x="0" y="0"/>
                </a:moveTo>
                <a:lnTo>
                  <a:pt x="9686848" y="0"/>
                </a:lnTo>
                <a:lnTo>
                  <a:pt x="9686848" y="665642"/>
                </a:lnTo>
                <a:lnTo>
                  <a:pt x="0" y="665642"/>
                </a:lnTo>
                <a:lnTo>
                  <a:pt x="0" y="0"/>
                </a:lnTo>
                <a:close/>
              </a:path>
            </a:pathLst>
          </a:custGeom>
          <a:blipFill>
            <a:blip r:embed="rId5"/>
            <a:stretch>
              <a:fillRect/>
            </a:stretch>
          </a:blipFill>
        </p:spPr>
      </p:sp>
      <p:sp>
        <p:nvSpPr>
          <p:cNvPr id="5" name="Freeform 5"/>
          <p:cNvSpPr/>
          <p:nvPr/>
        </p:nvSpPr>
        <p:spPr>
          <a:xfrm>
            <a:off x="1217007" y="1788982"/>
            <a:ext cx="9648724" cy="3017708"/>
          </a:xfrm>
          <a:custGeom>
            <a:avLst/>
            <a:gdLst/>
            <a:ahLst/>
            <a:cxnLst/>
            <a:rect l="l" t="t" r="r" b="b"/>
            <a:pathLst>
              <a:path w="9648724" h="3017708">
                <a:moveTo>
                  <a:pt x="0" y="0"/>
                </a:moveTo>
                <a:lnTo>
                  <a:pt x="9648723" y="0"/>
                </a:lnTo>
                <a:lnTo>
                  <a:pt x="9648723" y="3017708"/>
                </a:lnTo>
                <a:lnTo>
                  <a:pt x="0" y="3017708"/>
                </a:lnTo>
                <a:lnTo>
                  <a:pt x="0" y="0"/>
                </a:lnTo>
                <a:close/>
              </a:path>
            </a:pathLst>
          </a:custGeom>
          <a:blipFill>
            <a:blip r:embed="rId6"/>
            <a:stretch>
              <a:fillRect/>
            </a:stretch>
          </a:blipFill>
        </p:spPr>
      </p:sp>
      <p:sp>
        <p:nvSpPr>
          <p:cNvPr id="6" name="TextBox 6"/>
          <p:cNvSpPr txBox="1"/>
          <p:nvPr/>
        </p:nvSpPr>
        <p:spPr>
          <a:xfrm>
            <a:off x="13271685" y="863784"/>
            <a:ext cx="9525" cy="1566544"/>
          </a:xfrm>
          <a:prstGeom prst="rect">
            <a:avLst/>
          </a:prstGeom>
        </p:spPr>
        <p:txBody>
          <a:bodyPr lIns="0" tIns="0" rIns="0" bIns="0" rtlCol="0" anchor="t">
            <a:spAutoFit/>
          </a:bodyPr>
          <a:lstStyle/>
          <a:p>
            <a:pPr algn="ctr">
              <a:lnSpc>
                <a:spcPts val="12880"/>
              </a:lnSpc>
            </a:pPr>
            <a:endParaRPr/>
          </a:p>
        </p:txBody>
      </p:sp>
      <p:sp>
        <p:nvSpPr>
          <p:cNvPr id="8" name="TextBox 8"/>
          <p:cNvSpPr txBox="1"/>
          <p:nvPr/>
        </p:nvSpPr>
        <p:spPr>
          <a:xfrm>
            <a:off x="12489879" y="1394127"/>
            <a:ext cx="9525" cy="1566544"/>
          </a:xfrm>
          <a:prstGeom prst="rect">
            <a:avLst/>
          </a:prstGeom>
        </p:spPr>
        <p:txBody>
          <a:bodyPr lIns="0" tIns="0" rIns="0" bIns="0" rtlCol="0" anchor="t">
            <a:spAutoFit/>
          </a:bodyPr>
          <a:lstStyle/>
          <a:p>
            <a:pPr algn="ctr">
              <a:lnSpc>
                <a:spcPts val="12880"/>
              </a:lnSpc>
            </a:pPr>
            <a:endParaRPr/>
          </a:p>
        </p:txBody>
      </p:sp>
      <p:sp>
        <p:nvSpPr>
          <p:cNvPr id="9" name="TextBox 9"/>
          <p:cNvSpPr txBox="1"/>
          <p:nvPr/>
        </p:nvSpPr>
        <p:spPr>
          <a:xfrm>
            <a:off x="-1221730" y="590550"/>
            <a:ext cx="14860553" cy="438150"/>
          </a:xfrm>
          <a:prstGeom prst="rect">
            <a:avLst/>
          </a:prstGeom>
        </p:spPr>
        <p:txBody>
          <a:bodyPr lIns="0" tIns="0" rIns="0" bIns="0" rtlCol="0" anchor="t">
            <a:spAutoFit/>
          </a:bodyPr>
          <a:lstStyle/>
          <a:p>
            <a:pPr algn="ctr">
              <a:lnSpc>
                <a:spcPts val="3240"/>
              </a:lnSpc>
              <a:spcBef>
                <a:spcPct val="0"/>
              </a:spcBef>
            </a:pPr>
            <a:r>
              <a:rPr lang="en-US" sz="2700" b="1">
                <a:solidFill>
                  <a:srgbClr val="000000"/>
                </a:solidFill>
                <a:latin typeface="Poppins Bold"/>
                <a:ea typeface="Poppins Bold"/>
                <a:cs typeface="Poppins Bold"/>
                <a:sym typeface="Poppins Bold"/>
              </a:rPr>
              <a:t>CUPLIKAN (SCREENSHOT) DATASET HASIL AKHIR</a:t>
            </a:r>
          </a:p>
        </p:txBody>
      </p:sp>
      <p:sp>
        <p:nvSpPr>
          <p:cNvPr id="10" name="TextBox 10"/>
          <p:cNvSpPr txBox="1"/>
          <p:nvPr/>
        </p:nvSpPr>
        <p:spPr>
          <a:xfrm>
            <a:off x="1198328" y="139706"/>
            <a:ext cx="499467" cy="1177913"/>
          </a:xfrm>
          <a:prstGeom prst="rect">
            <a:avLst/>
          </a:prstGeom>
        </p:spPr>
        <p:txBody>
          <a:bodyPr lIns="0" tIns="0" rIns="0" bIns="0" rtlCol="0" anchor="t">
            <a:spAutoFit/>
          </a:bodyPr>
          <a:lstStyle/>
          <a:p>
            <a:pPr algn="ctr">
              <a:lnSpc>
                <a:spcPts val="9100"/>
              </a:lnSpc>
            </a:pPr>
            <a:r>
              <a:rPr lang="en-US" sz="6500" b="1">
                <a:solidFill>
                  <a:srgbClr val="000000"/>
                </a:solidFill>
                <a:latin typeface="Poppins Bold"/>
                <a:ea typeface="Poppins Bold"/>
                <a:cs typeface="Poppins Bold"/>
                <a:sym typeface="Poppins Bold"/>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123808" y="6122808"/>
            <a:ext cx="3356214" cy="4972169"/>
          </a:xfrm>
          <a:custGeom>
            <a:avLst/>
            <a:gdLst/>
            <a:ahLst/>
            <a:cxnLst/>
            <a:rect l="l" t="t" r="r" b="b"/>
            <a:pathLst>
              <a:path w="3356214" h="4972169">
                <a:moveTo>
                  <a:pt x="3356215" y="0"/>
                </a:moveTo>
                <a:lnTo>
                  <a:pt x="0" y="0"/>
                </a:lnTo>
                <a:lnTo>
                  <a:pt x="0" y="4972169"/>
                </a:lnTo>
                <a:lnTo>
                  <a:pt x="3356215" y="4972169"/>
                </a:lnTo>
                <a:lnTo>
                  <a:pt x="335621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3271685" y="863784"/>
            <a:ext cx="9525" cy="1566544"/>
          </a:xfrm>
          <a:prstGeom prst="rect">
            <a:avLst/>
          </a:prstGeom>
        </p:spPr>
        <p:txBody>
          <a:bodyPr lIns="0" tIns="0" rIns="0" bIns="0" rtlCol="0" anchor="t">
            <a:spAutoFit/>
          </a:bodyPr>
          <a:lstStyle/>
          <a:p>
            <a:pPr algn="ctr">
              <a:lnSpc>
                <a:spcPts val="12880"/>
              </a:lnSpc>
            </a:pPr>
            <a:endParaRPr/>
          </a:p>
        </p:txBody>
      </p:sp>
      <p:sp>
        <p:nvSpPr>
          <p:cNvPr id="5" name="TextBox 5"/>
          <p:cNvSpPr txBox="1"/>
          <p:nvPr/>
        </p:nvSpPr>
        <p:spPr>
          <a:xfrm>
            <a:off x="12489879" y="1394127"/>
            <a:ext cx="9525" cy="1566544"/>
          </a:xfrm>
          <a:prstGeom prst="rect">
            <a:avLst/>
          </a:prstGeom>
        </p:spPr>
        <p:txBody>
          <a:bodyPr lIns="0" tIns="0" rIns="0" bIns="0" rtlCol="0" anchor="t">
            <a:spAutoFit/>
          </a:bodyPr>
          <a:lstStyle/>
          <a:p>
            <a:pPr algn="ctr">
              <a:lnSpc>
                <a:spcPts val="12880"/>
              </a:lnSpc>
            </a:pPr>
            <a:endParaRPr/>
          </a:p>
        </p:txBody>
      </p:sp>
      <p:sp>
        <p:nvSpPr>
          <p:cNvPr id="6" name="TextBox 6"/>
          <p:cNvSpPr txBox="1"/>
          <p:nvPr/>
        </p:nvSpPr>
        <p:spPr>
          <a:xfrm>
            <a:off x="1931649" y="337566"/>
            <a:ext cx="14770187" cy="1334642"/>
          </a:xfrm>
          <a:prstGeom prst="rect">
            <a:avLst/>
          </a:prstGeom>
        </p:spPr>
        <p:txBody>
          <a:bodyPr lIns="0" tIns="0" rIns="0" bIns="0" rtlCol="0" anchor="t">
            <a:spAutoFit/>
          </a:bodyPr>
          <a:lstStyle/>
          <a:p>
            <a:pPr algn="l">
              <a:lnSpc>
                <a:spcPts val="3456"/>
              </a:lnSpc>
            </a:pPr>
            <a:r>
              <a:rPr lang="en-US" sz="2700" b="1" spc="294">
                <a:solidFill>
                  <a:srgbClr val="000000"/>
                </a:solidFill>
                <a:latin typeface="Poppins Bold"/>
                <a:ea typeface="Poppins Bold"/>
                <a:cs typeface="Poppins Bold"/>
                <a:sym typeface="Poppins Bold"/>
              </a:rPr>
              <a:t> KEPUTUSAN PEMBERSIHAN DATA YANG DIAMBIL, BESERTA ALASANNYA (MISALNYA: "KOLOM DESKRIPSI YANG KOSONG DIISI 'TIDAK ADA DESKRIPSI' KARENA BUKAN KOLOM ANGKA YANG DIHITUNG")</a:t>
            </a:r>
          </a:p>
        </p:txBody>
      </p:sp>
      <p:sp>
        <p:nvSpPr>
          <p:cNvPr id="7" name="TextBox 7"/>
          <p:cNvSpPr txBox="1"/>
          <p:nvPr/>
        </p:nvSpPr>
        <p:spPr>
          <a:xfrm>
            <a:off x="889460" y="387664"/>
            <a:ext cx="558998" cy="1177913"/>
          </a:xfrm>
          <a:prstGeom prst="rect">
            <a:avLst/>
          </a:prstGeom>
        </p:spPr>
        <p:txBody>
          <a:bodyPr lIns="0" tIns="0" rIns="0" bIns="0" rtlCol="0" anchor="t">
            <a:spAutoFit/>
          </a:bodyPr>
          <a:lstStyle/>
          <a:p>
            <a:pPr algn="ctr">
              <a:lnSpc>
                <a:spcPts val="9100"/>
              </a:lnSpc>
            </a:pPr>
            <a:r>
              <a:rPr lang="en-US" sz="6500" b="1">
                <a:solidFill>
                  <a:srgbClr val="000000"/>
                </a:solidFill>
                <a:latin typeface="Poppins Bold"/>
                <a:ea typeface="Poppins Bold"/>
                <a:cs typeface="Poppins Bold"/>
                <a:sym typeface="Poppins Bold"/>
              </a:rPr>
              <a:t>4</a:t>
            </a:r>
          </a:p>
        </p:txBody>
      </p:sp>
      <p:sp>
        <p:nvSpPr>
          <p:cNvPr id="8" name="TextBox 8"/>
          <p:cNvSpPr txBox="1"/>
          <p:nvPr/>
        </p:nvSpPr>
        <p:spPr>
          <a:xfrm>
            <a:off x="889460" y="2399839"/>
            <a:ext cx="16509079" cy="6785265"/>
          </a:xfrm>
          <a:prstGeom prst="rect">
            <a:avLst/>
          </a:prstGeom>
        </p:spPr>
        <p:txBody>
          <a:bodyPr lIns="0" tIns="0" rIns="0" bIns="0" rtlCol="0" anchor="t">
            <a:spAutoFit/>
          </a:bodyPr>
          <a:lstStyle/>
          <a:p>
            <a:pPr algn="l">
              <a:lnSpc>
                <a:spcPts val="2826"/>
              </a:lnSpc>
            </a:pPr>
            <a:r>
              <a:rPr lang="en-US" sz="1800" b="1" spc="136">
                <a:solidFill>
                  <a:srgbClr val="000000"/>
                </a:solidFill>
                <a:latin typeface="Poppins Bold"/>
                <a:ea typeface="Poppins Bold"/>
                <a:cs typeface="Poppins Bold"/>
                <a:sym typeface="Poppins Bold"/>
              </a:rPr>
              <a:t>Penanganan Deskripsi Kosong (bersihkan_deskripsi):</a:t>
            </a:r>
          </a:p>
          <a:p>
            <a:pPr algn="l">
              <a:lnSpc>
                <a:spcPts val="2669"/>
              </a:lnSpc>
            </a:pPr>
            <a:endParaRPr lang="en-US" sz="1800" b="1" spc="136">
              <a:solidFill>
                <a:srgbClr val="000000"/>
              </a:solidFill>
              <a:latin typeface="Poppins Bold"/>
              <a:ea typeface="Poppins Bold"/>
              <a:cs typeface="Poppins Bold"/>
              <a:sym typeface="Poppins Bold"/>
            </a:endParaRPr>
          </a:p>
          <a:p>
            <a:pPr algn="l">
              <a:lnSpc>
                <a:spcPts val="2669"/>
              </a:lnSpc>
            </a:pPr>
            <a:r>
              <a:rPr lang="en-US" sz="1700" spc="129">
                <a:solidFill>
                  <a:srgbClr val="000000"/>
                </a:solidFill>
                <a:latin typeface="Poppins"/>
                <a:ea typeface="Poppins"/>
                <a:cs typeface="Poppins"/>
                <a:sym typeface="Poppins"/>
              </a:rPr>
              <a:t>Keputusan: Mengisi nilai missing/null (NaN) pada kolom deskripsi dengan teks penanda "Tidak ada deskripsi".</a:t>
            </a:r>
          </a:p>
          <a:p>
            <a:pPr algn="l">
              <a:lnSpc>
                <a:spcPts val="2669"/>
              </a:lnSpc>
            </a:pPr>
            <a:r>
              <a:rPr lang="en-US" sz="1700" spc="129">
                <a:solidFill>
                  <a:srgbClr val="000000"/>
                </a:solidFill>
                <a:latin typeface="Poppins"/>
                <a:ea typeface="Poppins"/>
                <a:cs typeface="Poppins"/>
                <a:sym typeface="Poppins"/>
              </a:rPr>
              <a:t>Alasan: Kolom deskripsi berisi data kualitatif/teks (bukan angka yang dihitung rata-rata atau jumlahnya), sehingga tidak perlu dihapus. Pengisian label menjaga konsistensi struktur data tanpa kehilangan informasi baris berita tersebut.</a:t>
            </a:r>
          </a:p>
          <a:p>
            <a:pPr algn="l">
              <a:lnSpc>
                <a:spcPts val="2669"/>
              </a:lnSpc>
            </a:pPr>
            <a:endParaRPr lang="en-US" sz="1700" spc="129">
              <a:solidFill>
                <a:srgbClr val="000000"/>
              </a:solidFill>
              <a:latin typeface="Poppins"/>
              <a:ea typeface="Poppins"/>
              <a:cs typeface="Poppins"/>
              <a:sym typeface="Poppins"/>
            </a:endParaRPr>
          </a:p>
          <a:p>
            <a:pPr algn="l">
              <a:lnSpc>
                <a:spcPts val="2826"/>
              </a:lnSpc>
            </a:pPr>
            <a:r>
              <a:rPr lang="en-US" sz="1800" b="1" spc="136">
                <a:solidFill>
                  <a:srgbClr val="000000"/>
                </a:solidFill>
                <a:latin typeface="Poppins Bold"/>
                <a:ea typeface="Poppins Bold"/>
                <a:cs typeface="Poppins Bold"/>
                <a:sym typeface="Poppins Bold"/>
              </a:rPr>
              <a:t>Penghapusan Baris Tanpa Judul (dropna pada kolom Judul):</a:t>
            </a:r>
          </a:p>
          <a:p>
            <a:pPr algn="l">
              <a:lnSpc>
                <a:spcPts val="2669"/>
              </a:lnSpc>
            </a:pPr>
            <a:r>
              <a:rPr lang="en-US" sz="1700" spc="129">
                <a:solidFill>
                  <a:srgbClr val="000000"/>
                </a:solidFill>
                <a:latin typeface="Poppins"/>
                <a:ea typeface="Poppins"/>
                <a:cs typeface="Poppins"/>
                <a:sym typeface="Poppins"/>
              </a:rPr>
              <a:t>Keputusan: Membuang baris berita yang tidak memiliki judul (df_berita.dropna(subset=["Judul"])).</a:t>
            </a:r>
          </a:p>
          <a:p>
            <a:pPr algn="l">
              <a:lnSpc>
                <a:spcPts val="2669"/>
              </a:lnSpc>
            </a:pPr>
            <a:r>
              <a:rPr lang="en-US" sz="1700" spc="129">
                <a:solidFill>
                  <a:srgbClr val="000000"/>
                </a:solidFill>
                <a:latin typeface="Poppins"/>
                <a:ea typeface="Poppins"/>
                <a:cs typeface="Poppins"/>
                <a:sym typeface="Poppins"/>
              </a:rPr>
              <a:t>Alasan: Judul merupakan identitas utama sebuah artikel berita. Berita tanpa judul tidak berharga untuk dianalisis lebih lanjut.</a:t>
            </a:r>
          </a:p>
          <a:p>
            <a:pPr algn="l">
              <a:lnSpc>
                <a:spcPts val="2826"/>
              </a:lnSpc>
            </a:pPr>
            <a:endParaRPr lang="en-US" sz="1700" spc="129">
              <a:solidFill>
                <a:srgbClr val="000000"/>
              </a:solidFill>
              <a:latin typeface="Poppins"/>
              <a:ea typeface="Poppins"/>
              <a:cs typeface="Poppins"/>
              <a:sym typeface="Poppins"/>
            </a:endParaRPr>
          </a:p>
          <a:p>
            <a:pPr algn="l">
              <a:lnSpc>
                <a:spcPts val="2826"/>
              </a:lnSpc>
            </a:pPr>
            <a:r>
              <a:rPr lang="en-US" sz="1800" b="1" spc="136">
                <a:solidFill>
                  <a:srgbClr val="000000"/>
                </a:solidFill>
                <a:latin typeface="Poppins Bold"/>
                <a:ea typeface="Poppins Bold"/>
                <a:cs typeface="Poppins Bold"/>
                <a:sym typeface="Poppins Bold"/>
              </a:rPr>
              <a:t>Penghapusan Data Duplikat (drop_duplicates pada kolom URL):</a:t>
            </a:r>
          </a:p>
          <a:p>
            <a:pPr algn="l">
              <a:lnSpc>
                <a:spcPts val="2669"/>
              </a:lnSpc>
            </a:pPr>
            <a:r>
              <a:rPr lang="en-US" sz="1700" spc="129">
                <a:solidFill>
                  <a:srgbClr val="000000"/>
                </a:solidFill>
                <a:latin typeface="Poppins"/>
                <a:ea typeface="Poppins"/>
                <a:cs typeface="Poppins"/>
                <a:sym typeface="Poppins"/>
              </a:rPr>
              <a:t>Keputusan: Menghapus baris duplikat berdasarkan keunikan alamat link (URL). Sebanyak 39 baris duplikat berhasil dibuang (dari 194 baris menjadi 155 baris).</a:t>
            </a:r>
          </a:p>
          <a:p>
            <a:pPr algn="l">
              <a:lnSpc>
                <a:spcPts val="2669"/>
              </a:lnSpc>
            </a:pPr>
            <a:r>
              <a:rPr lang="en-US" sz="1700" spc="129">
                <a:solidFill>
                  <a:srgbClr val="000000"/>
                </a:solidFill>
                <a:latin typeface="Poppins"/>
                <a:ea typeface="Poppins"/>
                <a:cs typeface="Poppins"/>
                <a:sym typeface="Poppins"/>
              </a:rPr>
              <a:t>Alasan: Pengambilan data dilakukan dengan beberapa kata kunci berbeda, sehingga ada kemungkinan satu berita yang sama muncul lebih dari satu kali. Menggunakan URL sebagai acuan memastikan tidak ada berita ganda dalam dataset.</a:t>
            </a:r>
          </a:p>
          <a:p>
            <a:pPr algn="l">
              <a:lnSpc>
                <a:spcPts val="2826"/>
              </a:lnSpc>
            </a:pPr>
            <a:endParaRPr lang="en-US" sz="1700" spc="129">
              <a:solidFill>
                <a:srgbClr val="000000"/>
              </a:solidFill>
              <a:latin typeface="Poppins"/>
              <a:ea typeface="Poppins"/>
              <a:cs typeface="Poppins"/>
              <a:sym typeface="Poppins"/>
            </a:endParaRPr>
          </a:p>
          <a:p>
            <a:pPr algn="l">
              <a:lnSpc>
                <a:spcPts val="2826"/>
              </a:lnSpc>
            </a:pPr>
            <a:r>
              <a:rPr lang="en-US" sz="1800" b="1" spc="136">
                <a:solidFill>
                  <a:srgbClr val="000000"/>
                </a:solidFill>
                <a:latin typeface="Poppins Bold"/>
                <a:ea typeface="Poppins Bold"/>
                <a:cs typeface="Poppins Bold"/>
                <a:sym typeface="Poppins Bold"/>
              </a:rPr>
              <a:t>Konversi Tipe Data Tanggal (ubah_ke_tanggal / pd.to_datetime):</a:t>
            </a:r>
          </a:p>
          <a:p>
            <a:pPr algn="l">
              <a:lnSpc>
                <a:spcPts val="2669"/>
              </a:lnSpc>
            </a:pPr>
            <a:r>
              <a:rPr lang="en-US" sz="1700" spc="129">
                <a:solidFill>
                  <a:srgbClr val="000000"/>
                </a:solidFill>
                <a:latin typeface="Poppins"/>
                <a:ea typeface="Poppins"/>
                <a:cs typeface="Poppins"/>
                <a:sym typeface="Poppins"/>
              </a:rPr>
              <a:t>Keputusan: Mengubah tipe data kolom Tanggal dari string (object) menjadi format datetime ISO (datetime64[us, UTC]).</a:t>
            </a:r>
          </a:p>
          <a:p>
            <a:pPr algn="l">
              <a:lnSpc>
                <a:spcPts val="2669"/>
              </a:lnSpc>
            </a:pPr>
            <a:r>
              <a:rPr lang="en-US" sz="1700" spc="129">
                <a:solidFill>
                  <a:srgbClr val="000000"/>
                </a:solidFill>
                <a:latin typeface="Poppins"/>
                <a:ea typeface="Poppins"/>
                <a:cs typeface="Poppins"/>
                <a:sym typeface="Poppins"/>
              </a:rPr>
              <a:t>Alasan: Memudahkan operasi pengolahan berbasis waktu, seperti pengurutan kronologis, pembuatan rentang waktu, atau analisis tren berita berdasarkan tanggal.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697</Words>
  <Application>Microsoft Office PowerPoint</Application>
  <PresentationFormat>Custom</PresentationFormat>
  <Paragraphs>68</Paragraphs>
  <Slides>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Poppins Bold</vt:lpstr>
      <vt:lpstr>League Spartan</vt:lpstr>
      <vt:lpstr>DM Sans Bold</vt:lpstr>
      <vt:lpstr>Arial</vt:lpstr>
      <vt:lpstr>DM Sans</vt:lpstr>
      <vt:lpstr>Calibri</vt:lpstr>
      <vt:lpstr>Poppins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apa yang dipakai, dan alasan memilihnya</dc:title>
  <dc:creator>Anang Mardiyanto</dc:creator>
  <cp:lastModifiedBy>Anang Mardiyanto</cp:lastModifiedBy>
  <cp:revision>2</cp:revision>
  <dcterms:created xsi:type="dcterms:W3CDTF">2006-08-16T00:00:00Z</dcterms:created>
  <dcterms:modified xsi:type="dcterms:W3CDTF">2026-09-23T13:06:47Z</dcterms:modified>
  <dc:identifier>DAHWA2GMA1w</dc:identifier>
</cp:coreProperties>
</file>